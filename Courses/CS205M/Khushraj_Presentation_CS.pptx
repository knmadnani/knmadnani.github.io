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256" r:id="rId2"/>
    <p:sldId id="339" r:id="rId3"/>
    <p:sldId id="316" r:id="rId4"/>
    <p:sldId id="319" r:id="rId5"/>
    <p:sldId id="318" r:id="rId6"/>
    <p:sldId id="321" r:id="rId7"/>
    <p:sldId id="322" r:id="rId8"/>
    <p:sldId id="323" r:id="rId9"/>
    <p:sldId id="324" r:id="rId10"/>
    <p:sldId id="325" r:id="rId11"/>
    <p:sldId id="326" r:id="rId12"/>
    <p:sldId id="327" r:id="rId13"/>
    <p:sldId id="317" r:id="rId14"/>
    <p:sldId id="328" r:id="rId15"/>
    <p:sldId id="329" r:id="rId16"/>
    <p:sldId id="330" r:id="rId17"/>
    <p:sldId id="331" r:id="rId18"/>
    <p:sldId id="332" r:id="rId19"/>
    <p:sldId id="334" r:id="rId20"/>
    <p:sldId id="333" r:id="rId21"/>
    <p:sldId id="298" r:id="rId22"/>
    <p:sldId id="335" r:id="rId23"/>
    <p:sldId id="338" r:id="rId24"/>
    <p:sldId id="337" r:id="rId25"/>
    <p:sldId id="257" r:id="rId26"/>
    <p:sldId id="258" r:id="rId27"/>
    <p:sldId id="259" r:id="rId28"/>
    <p:sldId id="260" r:id="rId29"/>
    <p:sldId id="261" r:id="rId30"/>
    <p:sldId id="340" r:id="rId31"/>
    <p:sldId id="341" r:id="rId32"/>
    <p:sldId id="262" r:id="rId33"/>
    <p:sldId id="263" r:id="rId34"/>
    <p:sldId id="264" r:id="rId35"/>
    <p:sldId id="265" r:id="rId36"/>
    <p:sldId id="301" r:id="rId37"/>
    <p:sldId id="354" r:id="rId38"/>
    <p:sldId id="358" r:id="rId39"/>
    <p:sldId id="359" r:id="rId40"/>
    <p:sldId id="602" r:id="rId41"/>
    <p:sldId id="360" r:id="rId42"/>
    <p:sldId id="361" r:id="rId43"/>
    <p:sldId id="603" r:id="rId44"/>
    <p:sldId id="604" r:id="rId45"/>
    <p:sldId id="605" r:id="rId46"/>
    <p:sldId id="606" r:id="rId47"/>
    <p:sldId id="364" r:id="rId48"/>
    <p:sldId id="365" r:id="rId49"/>
    <p:sldId id="352" r:id="rId50"/>
    <p:sldId id="342" r:id="rId51"/>
    <p:sldId id="343" r:id="rId52"/>
    <p:sldId id="344" r:id="rId53"/>
    <p:sldId id="345" r:id="rId54"/>
    <p:sldId id="346" r:id="rId55"/>
    <p:sldId id="347" r:id="rId56"/>
    <p:sldId id="348" r:id="rId57"/>
    <p:sldId id="349" r:id="rId58"/>
    <p:sldId id="350" r:id="rId5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647700" rtl="0" fontAlgn="auto" latinLnBrk="0" hangingPunct="0">
      <a:lnSpc>
        <a:spcPct val="100000"/>
      </a:lnSpc>
      <a:spcBef>
        <a:spcPts val="5100"/>
      </a:spcBef>
      <a:spcAft>
        <a:spcPts val="0"/>
      </a:spcAft>
      <a:buClrTx/>
      <a:buSzTx/>
      <a:buFontTx/>
      <a:buNone/>
      <a:tabLst/>
      <a:defRPr kumimoji="0" sz="3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1pPr>
    <a:lvl2pPr marL="0" marR="0" indent="0" algn="l" defTabSz="647700" rtl="0" fontAlgn="auto" latinLnBrk="0" hangingPunct="0">
      <a:lnSpc>
        <a:spcPct val="100000"/>
      </a:lnSpc>
      <a:spcBef>
        <a:spcPts val="5100"/>
      </a:spcBef>
      <a:spcAft>
        <a:spcPts val="0"/>
      </a:spcAft>
      <a:buClrTx/>
      <a:buSzTx/>
      <a:buFontTx/>
      <a:buNone/>
      <a:tabLst/>
      <a:defRPr kumimoji="0" sz="3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2pPr>
    <a:lvl3pPr marL="0" marR="0" indent="0" algn="l" defTabSz="647700" rtl="0" fontAlgn="auto" latinLnBrk="0" hangingPunct="0">
      <a:lnSpc>
        <a:spcPct val="100000"/>
      </a:lnSpc>
      <a:spcBef>
        <a:spcPts val="5100"/>
      </a:spcBef>
      <a:spcAft>
        <a:spcPts val="0"/>
      </a:spcAft>
      <a:buClrTx/>
      <a:buSzTx/>
      <a:buFontTx/>
      <a:buNone/>
      <a:tabLst/>
      <a:defRPr kumimoji="0" sz="3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3pPr>
    <a:lvl4pPr marL="0" marR="0" indent="0" algn="l" defTabSz="647700" rtl="0" fontAlgn="auto" latinLnBrk="0" hangingPunct="0">
      <a:lnSpc>
        <a:spcPct val="100000"/>
      </a:lnSpc>
      <a:spcBef>
        <a:spcPts val="5100"/>
      </a:spcBef>
      <a:spcAft>
        <a:spcPts val="0"/>
      </a:spcAft>
      <a:buClrTx/>
      <a:buSzTx/>
      <a:buFontTx/>
      <a:buNone/>
      <a:tabLst/>
      <a:defRPr kumimoji="0" sz="3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4pPr>
    <a:lvl5pPr marL="0" marR="0" indent="0" algn="l" defTabSz="647700" rtl="0" fontAlgn="auto" latinLnBrk="0" hangingPunct="0">
      <a:lnSpc>
        <a:spcPct val="100000"/>
      </a:lnSpc>
      <a:spcBef>
        <a:spcPts val="5100"/>
      </a:spcBef>
      <a:spcAft>
        <a:spcPts val="0"/>
      </a:spcAft>
      <a:buClrTx/>
      <a:buSzTx/>
      <a:buFontTx/>
      <a:buNone/>
      <a:tabLst/>
      <a:defRPr kumimoji="0" sz="3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5pPr>
    <a:lvl6pPr marL="0" marR="0" indent="0" algn="l" defTabSz="647700" rtl="0" fontAlgn="auto" latinLnBrk="0" hangingPunct="0">
      <a:lnSpc>
        <a:spcPct val="100000"/>
      </a:lnSpc>
      <a:spcBef>
        <a:spcPts val="5100"/>
      </a:spcBef>
      <a:spcAft>
        <a:spcPts val="0"/>
      </a:spcAft>
      <a:buClrTx/>
      <a:buSzTx/>
      <a:buFontTx/>
      <a:buNone/>
      <a:tabLst/>
      <a:defRPr kumimoji="0" sz="3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6pPr>
    <a:lvl7pPr marL="0" marR="0" indent="0" algn="l" defTabSz="647700" rtl="0" fontAlgn="auto" latinLnBrk="0" hangingPunct="0">
      <a:lnSpc>
        <a:spcPct val="100000"/>
      </a:lnSpc>
      <a:spcBef>
        <a:spcPts val="5100"/>
      </a:spcBef>
      <a:spcAft>
        <a:spcPts val="0"/>
      </a:spcAft>
      <a:buClrTx/>
      <a:buSzTx/>
      <a:buFontTx/>
      <a:buNone/>
      <a:tabLst/>
      <a:defRPr kumimoji="0" sz="3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7pPr>
    <a:lvl8pPr marL="0" marR="0" indent="0" algn="l" defTabSz="647700" rtl="0" fontAlgn="auto" latinLnBrk="0" hangingPunct="0">
      <a:lnSpc>
        <a:spcPct val="100000"/>
      </a:lnSpc>
      <a:spcBef>
        <a:spcPts val="5100"/>
      </a:spcBef>
      <a:spcAft>
        <a:spcPts val="0"/>
      </a:spcAft>
      <a:buClrTx/>
      <a:buSzTx/>
      <a:buFontTx/>
      <a:buNone/>
      <a:tabLst/>
      <a:defRPr kumimoji="0" sz="3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8pPr>
    <a:lvl9pPr marL="0" marR="0" indent="0" algn="l" defTabSz="647700" rtl="0" fontAlgn="auto" latinLnBrk="0" hangingPunct="0">
      <a:lnSpc>
        <a:spcPct val="100000"/>
      </a:lnSpc>
      <a:spcBef>
        <a:spcPts val="5100"/>
      </a:spcBef>
      <a:spcAft>
        <a:spcPts val="0"/>
      </a:spcAft>
      <a:buClrTx/>
      <a:buSzTx/>
      <a:buFontTx/>
      <a:buNone/>
      <a:tabLst/>
      <a:defRPr kumimoji="0" sz="3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2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879BBB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879BBB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4B13F">
              <a:alpha val="90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882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78BC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left>
          <a:right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right>
          <a:top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top>
          <a:bottom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bottom>
          <a:insideH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insideH>
          <a:insideV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FFFFFF">
                  <a:alpha val="75000"/>
                </a:srgbClr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54545">
              <a:alpha val="41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>
                  <a:alpha val="75000"/>
                </a:srgb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282A2F"/>
        </a:fontRef>
        <a:srgbClr val="282A2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>
                  <a:alpha val="75000"/>
                </a:srgb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BD5C">
              <a:alpha val="82000"/>
            </a:srgbClr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254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94B28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254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9487B7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254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7A8DB2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EDEDF">
              <a:alpha val="19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444C55">
              <a:alpha val="50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33373B">
              <a:alpha val="50000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33373B">
              <a:alpha val="50000"/>
            </a:srgbClr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left>
          <a:right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right>
          <a:top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top>
          <a:bottom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bottom>
          <a:insideH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insideH>
          <a:insideV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30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9" name="Shape 17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642D9996-1231-4E0D-B501-FA58E499DC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0987695-9F3D-4246-A12C-CB3CF230D516}" type="slidenum">
              <a:rPr lang="en-US" altLang="en-US" sz="1200"/>
              <a:pPr/>
              <a:t>40</a:t>
            </a:fld>
            <a:endParaRPr lang="en-US" altLang="en-US" sz="12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4A943AF6-4786-4E73-93FF-2B0F4F47E0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C6F8F080-877A-4DED-9F3E-2329C4C55A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lose-up of a monarch caterpillar on a partially eaten leaf"/>
          <p:cNvSpPr>
            <a:spLocks noGrp="1"/>
          </p:cNvSpPr>
          <p:nvPr>
            <p:ph type="pic" idx="21"/>
          </p:nvPr>
        </p:nvSpPr>
        <p:spPr>
          <a:xfrm>
            <a:off x="889000" y="-1625600"/>
            <a:ext cx="20332700" cy="141097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778000" y="9550400"/>
            <a:ext cx="20828000" cy="21209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11785600"/>
            <a:ext cx="20828000" cy="13462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800"/>
            </a:lvl1pPr>
            <a:lvl2pPr marL="0" indent="0" algn="ctr">
              <a:spcBef>
                <a:spcPts val="0"/>
              </a:spcBef>
              <a:buSzTx/>
              <a:buNone/>
              <a:defRPr sz="4800"/>
            </a:lvl2pPr>
            <a:lvl3pPr marL="0" indent="0" algn="ctr">
              <a:spcBef>
                <a:spcPts val="0"/>
              </a:spcBef>
              <a:buSzTx/>
              <a:buNone/>
              <a:defRPr sz="4800"/>
            </a:lvl3pPr>
            <a:lvl4pPr marL="0" indent="0" algn="ctr">
              <a:spcBef>
                <a:spcPts val="0"/>
              </a:spcBef>
              <a:buSzTx/>
              <a:buNone/>
              <a:defRPr sz="4800"/>
            </a:lvl4pPr>
            <a:lvl5pPr marL="0" indent="0" algn="ctr">
              <a:spcBef>
                <a:spcPts val="0"/>
              </a:spcBef>
              <a:buSzTx/>
              <a:buNone/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5067300"/>
            <a:ext cx="20828000" cy="35687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lose-up of a monarch caterpillar on a partially eaten leaf"/>
          <p:cNvSpPr>
            <a:spLocks noGrp="1"/>
          </p:cNvSpPr>
          <p:nvPr>
            <p:ph type="pic" idx="21"/>
          </p:nvPr>
        </p:nvSpPr>
        <p:spPr>
          <a:xfrm>
            <a:off x="7785100" y="114300"/>
            <a:ext cx="17195800" cy="11866894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574800" y="1854200"/>
            <a:ext cx="10858500" cy="4826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74800" y="6692900"/>
            <a:ext cx="10858500" cy="5067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800"/>
            </a:lvl1pPr>
            <a:lvl2pPr marL="0" indent="0" algn="ctr">
              <a:spcBef>
                <a:spcPts val="0"/>
              </a:spcBef>
              <a:buSzTx/>
              <a:buNone/>
              <a:defRPr sz="4800"/>
            </a:lvl2pPr>
            <a:lvl3pPr marL="0" indent="0" algn="ctr">
              <a:spcBef>
                <a:spcPts val="0"/>
              </a:spcBef>
              <a:buSzTx/>
              <a:buNone/>
              <a:defRPr sz="4800"/>
            </a:lvl3pPr>
            <a:lvl4pPr marL="0" indent="0" algn="ctr">
              <a:spcBef>
                <a:spcPts val="0"/>
              </a:spcBef>
              <a:buSzTx/>
              <a:buNone/>
              <a:defRPr sz="4800"/>
            </a:lvl4pPr>
            <a:lvl5pPr marL="0" indent="0" algn="ctr">
              <a:spcBef>
                <a:spcPts val="0"/>
              </a:spcBef>
              <a:buSzTx/>
              <a:buNone/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xfrm>
            <a:off x="1778000" y="3898900"/>
            <a:ext cx="20828000" cy="8039100"/>
          </a:xfrm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lose-up of a monarch caterpillar on a partially eaten leaf"/>
          <p:cNvSpPr>
            <a:spLocks noGrp="1"/>
          </p:cNvSpPr>
          <p:nvPr>
            <p:ph type="pic" sz="half" idx="21"/>
          </p:nvPr>
        </p:nvSpPr>
        <p:spPr>
          <a:xfrm>
            <a:off x="10629900" y="3136398"/>
            <a:ext cx="13843000" cy="9553114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1778000" y="952500"/>
            <a:ext cx="20828000" cy="2286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778000" y="3378200"/>
            <a:ext cx="10007600" cy="9118600"/>
          </a:xfrm>
          <a:prstGeom prst="rect">
            <a:avLst/>
          </a:prstGeom>
        </p:spPr>
        <p:txBody>
          <a:bodyPr/>
          <a:lstStyle>
            <a:lvl1pPr marL="660399" indent="-660399">
              <a:spcBef>
                <a:spcPts val="3200"/>
              </a:spcBef>
              <a:buBlip>
                <a:blip r:embed="rId2"/>
              </a:buBlip>
              <a:defRPr sz="4400"/>
            </a:lvl1pPr>
            <a:lvl2pPr marL="1320800" indent="-660400">
              <a:spcBef>
                <a:spcPts val="3200"/>
              </a:spcBef>
              <a:buBlip>
                <a:blip r:embed="rId2"/>
              </a:buBlip>
              <a:defRPr sz="4400"/>
            </a:lvl2pPr>
            <a:lvl3pPr marL="1981200" indent="-660400">
              <a:spcBef>
                <a:spcPts val="3200"/>
              </a:spcBef>
              <a:buBlip>
                <a:blip r:embed="rId2"/>
              </a:buBlip>
              <a:defRPr sz="4400"/>
            </a:lvl3pPr>
            <a:lvl4pPr marL="2641600" indent="-660400">
              <a:spcBef>
                <a:spcPts val="3200"/>
              </a:spcBef>
              <a:buBlip>
                <a:blip r:embed="rId2"/>
              </a:buBlip>
              <a:defRPr sz="4400"/>
            </a:lvl4pPr>
            <a:lvl5pPr marL="3302000" indent="-660400">
              <a:spcBef>
                <a:spcPts val="3200"/>
              </a:spcBef>
              <a:buBlip>
                <a:blip r:embed="rId2"/>
              </a:buBlip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01"/>
          <p:cNvSpPr txBox="1">
            <a:spLocks noGrp="1"/>
          </p:cNvSpPr>
          <p:nvPr>
            <p:ph type="sldNum" sz="quarter" idx="2"/>
          </p:nvPr>
        </p:nvSpPr>
        <p:spPr>
          <a:xfrm>
            <a:off x="11991452" y="13008841"/>
            <a:ext cx="508351" cy="567459"/>
          </a:xfrm>
          <a:prstGeom prst="rect">
            <a:avLst/>
          </a:prstGeom>
        </p:spPr>
        <p:txBody>
          <a:bodyPr/>
          <a:lstStyle>
            <a:lvl1pPr algn="r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xfrm>
            <a:off x="1778000" y="952500"/>
            <a:ext cx="20828000" cy="2286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778000" y="3378200"/>
            <a:ext cx="10007600" cy="9118600"/>
          </a:xfrm>
          <a:prstGeom prst="rect">
            <a:avLst/>
          </a:prstGeom>
        </p:spPr>
        <p:txBody>
          <a:bodyPr/>
          <a:lstStyle>
            <a:lvl1pPr marL="660399" indent="-660399">
              <a:spcBef>
                <a:spcPts val="3200"/>
              </a:spcBef>
              <a:buBlip>
                <a:blip r:embed="rId2"/>
              </a:buBlip>
              <a:defRPr sz="4400"/>
            </a:lvl1pPr>
            <a:lvl2pPr marL="1320800" indent="-660400">
              <a:spcBef>
                <a:spcPts val="3200"/>
              </a:spcBef>
              <a:buBlip>
                <a:blip r:embed="rId2"/>
              </a:buBlip>
              <a:defRPr sz="4400"/>
            </a:lvl2pPr>
            <a:lvl3pPr marL="1981200" indent="-660400">
              <a:spcBef>
                <a:spcPts val="3200"/>
              </a:spcBef>
              <a:buBlip>
                <a:blip r:embed="rId2"/>
              </a:buBlip>
              <a:defRPr sz="4400"/>
            </a:lvl3pPr>
            <a:lvl4pPr marL="2641600" indent="-660400">
              <a:spcBef>
                <a:spcPts val="3200"/>
              </a:spcBef>
              <a:buBlip>
                <a:blip r:embed="rId2"/>
              </a:buBlip>
              <a:defRPr sz="4400"/>
            </a:lvl4pPr>
            <a:lvl5pPr marL="3302000" indent="-660400">
              <a:spcBef>
                <a:spcPts val="3200"/>
              </a:spcBef>
              <a:buBlip>
                <a:blip r:embed="rId2"/>
              </a:buBlip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01"/>
          <p:cNvSpPr txBox="1">
            <a:spLocks noGrp="1"/>
          </p:cNvSpPr>
          <p:nvPr>
            <p:ph type="sldNum" sz="quarter" idx="2"/>
          </p:nvPr>
        </p:nvSpPr>
        <p:spPr>
          <a:xfrm>
            <a:off x="11991452" y="13008841"/>
            <a:ext cx="508351" cy="567459"/>
          </a:xfrm>
          <a:prstGeom prst="rect">
            <a:avLst/>
          </a:prstGeom>
        </p:spPr>
        <p:txBody>
          <a:bodyPr/>
          <a:lstStyle>
            <a:lvl1pPr algn="r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>
            <a:spLocks noGrp="1"/>
          </p:cNvSpPr>
          <p:nvPr>
            <p:ph type="title"/>
          </p:nvPr>
        </p:nvSpPr>
        <p:spPr>
          <a:xfrm>
            <a:off x="1778000" y="952500"/>
            <a:ext cx="20828000" cy="2286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778000" y="3378200"/>
            <a:ext cx="10007600" cy="9118600"/>
          </a:xfrm>
          <a:prstGeom prst="rect">
            <a:avLst/>
          </a:prstGeom>
        </p:spPr>
        <p:txBody>
          <a:bodyPr/>
          <a:lstStyle>
            <a:lvl1pPr marL="660399" indent="-660399">
              <a:spcBef>
                <a:spcPts val="3200"/>
              </a:spcBef>
              <a:buBlip>
                <a:blip r:embed="rId2"/>
              </a:buBlip>
              <a:defRPr sz="4400"/>
            </a:lvl1pPr>
            <a:lvl2pPr marL="1320800" indent="-660400">
              <a:spcBef>
                <a:spcPts val="3200"/>
              </a:spcBef>
              <a:buBlip>
                <a:blip r:embed="rId2"/>
              </a:buBlip>
              <a:defRPr sz="4400"/>
            </a:lvl2pPr>
            <a:lvl3pPr marL="1981200" indent="-660400">
              <a:spcBef>
                <a:spcPts val="3200"/>
              </a:spcBef>
              <a:buBlip>
                <a:blip r:embed="rId2"/>
              </a:buBlip>
              <a:defRPr sz="4400"/>
            </a:lvl3pPr>
            <a:lvl4pPr marL="2641600" indent="-660400">
              <a:spcBef>
                <a:spcPts val="3200"/>
              </a:spcBef>
              <a:buBlip>
                <a:blip r:embed="rId2"/>
              </a:buBlip>
              <a:defRPr sz="4400"/>
            </a:lvl4pPr>
            <a:lvl5pPr marL="3302000" indent="-660400">
              <a:spcBef>
                <a:spcPts val="3200"/>
              </a:spcBef>
              <a:buBlip>
                <a:blip r:embed="rId2"/>
              </a:buBlip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01"/>
          <p:cNvSpPr txBox="1">
            <a:spLocks noGrp="1"/>
          </p:cNvSpPr>
          <p:nvPr>
            <p:ph type="sldNum" sz="quarter" idx="2"/>
          </p:nvPr>
        </p:nvSpPr>
        <p:spPr>
          <a:xfrm>
            <a:off x="11991452" y="13008841"/>
            <a:ext cx="508351" cy="567459"/>
          </a:xfrm>
          <a:prstGeom prst="rect">
            <a:avLst/>
          </a:prstGeom>
        </p:spPr>
        <p:txBody>
          <a:bodyPr/>
          <a:lstStyle>
            <a:lvl1pPr algn="r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ortrait photo of a butterfly on a green leaf"/>
          <p:cNvSpPr>
            <a:spLocks noGrp="1"/>
          </p:cNvSpPr>
          <p:nvPr>
            <p:ph type="pic" sz="quarter" idx="21"/>
          </p:nvPr>
        </p:nvSpPr>
        <p:spPr>
          <a:xfrm>
            <a:off x="15327675" y="6674745"/>
            <a:ext cx="8902514" cy="5912435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2" name="Close-up of an orange butterfly perched on a person’s hand in the grass"/>
          <p:cNvSpPr>
            <a:spLocks noGrp="1"/>
          </p:cNvSpPr>
          <p:nvPr>
            <p:ph type="pic" sz="half" idx="22"/>
          </p:nvPr>
        </p:nvSpPr>
        <p:spPr>
          <a:xfrm rot="21600000">
            <a:off x="15779078" y="-2308725"/>
            <a:ext cx="7408334" cy="94234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Close-up of a monarch caterpillar on a partially eaten leaf"/>
          <p:cNvSpPr>
            <a:spLocks noGrp="1"/>
          </p:cNvSpPr>
          <p:nvPr>
            <p:ph type="pic" idx="23"/>
          </p:nvPr>
        </p:nvSpPr>
        <p:spPr>
          <a:xfrm rot="21600000">
            <a:off x="-3606800" y="-1397000"/>
            <a:ext cx="22745700" cy="157861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“Type a quote here.”"/>
          <p:cNvSpPr txBox="1">
            <a:spLocks noGrp="1"/>
          </p:cNvSpPr>
          <p:nvPr>
            <p:ph type="body" sz="quarter" idx="21"/>
          </p:nvPr>
        </p:nvSpPr>
        <p:spPr>
          <a:xfrm>
            <a:off x="2374900" y="6405178"/>
            <a:ext cx="19621500" cy="94374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3400"/>
              </a:spcBef>
              <a:buSzTx/>
              <a:buNone/>
              <a:defRPr sz="5200"/>
            </a:lvl1pPr>
          </a:lstStyle>
          <a:p>
            <a:r>
              <a:t>“Type a quote here.”</a:t>
            </a:r>
          </a:p>
        </p:txBody>
      </p:sp>
      <p:sp>
        <p:nvSpPr>
          <p:cNvPr id="112" name="–Johnny Appleseed"/>
          <p:cNvSpPr txBox="1">
            <a:spLocks noGrp="1"/>
          </p:cNvSpPr>
          <p:nvPr>
            <p:ph type="body" sz="quarter" idx="22"/>
          </p:nvPr>
        </p:nvSpPr>
        <p:spPr>
          <a:xfrm>
            <a:off x="2374900" y="8966200"/>
            <a:ext cx="19621500" cy="7112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</a:lstStyle>
          <a:p>
            <a:r>
              <a:t>–Johnny Appleseed</a:t>
            </a:r>
          </a:p>
        </p:txBody>
      </p:sp>
      <p:sp>
        <p:nvSpPr>
          <p:cNvPr id="11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lose-up of a monarch caterpillar on a partially eaten leaf"/>
          <p:cNvSpPr>
            <a:spLocks noGrp="1"/>
          </p:cNvSpPr>
          <p:nvPr>
            <p:ph type="pic" idx="21"/>
          </p:nvPr>
        </p:nvSpPr>
        <p:spPr>
          <a:xfrm>
            <a:off x="2247" y="-939800"/>
            <a:ext cx="24384005" cy="16827500"/>
          </a:xfrm>
          <a:prstGeom prst="rect">
            <a:avLst/>
          </a:prstGeom>
          <a:ln w="88900"/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2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itle Text"/>
          <p:cNvSpPr txBox="1">
            <a:spLocks noGrp="1"/>
          </p:cNvSpPr>
          <p:nvPr>
            <p:ph type="title"/>
          </p:nvPr>
        </p:nvSpPr>
        <p:spPr>
          <a:xfrm>
            <a:off x="4833937" y="285750"/>
            <a:ext cx="14716126" cy="3571875"/>
          </a:xfrm>
          <a:prstGeom prst="rect">
            <a:avLst/>
          </a:prstGeom>
        </p:spPr>
        <p:txBody>
          <a:bodyPr lIns="71437" tIns="71437" rIns="71437" bIns="71437"/>
          <a:lstStyle>
            <a:lvl1pPr defTabSz="642937"/>
          </a:lstStyle>
          <a:p>
            <a:r>
              <a:t>Title Text</a:t>
            </a:r>
          </a:p>
        </p:txBody>
      </p:sp>
      <p:sp>
        <p:nvSpPr>
          <p:cNvPr id="172" name="01"/>
          <p:cNvSpPr txBox="1">
            <a:spLocks noGrp="1"/>
          </p:cNvSpPr>
          <p:nvPr>
            <p:ph type="sldNum" sz="quarter" idx="2"/>
          </p:nvPr>
        </p:nvSpPr>
        <p:spPr>
          <a:xfrm>
            <a:off x="11916526" y="12964391"/>
            <a:ext cx="549627" cy="608734"/>
          </a:xfrm>
          <a:prstGeom prst="rect">
            <a:avLst/>
          </a:prstGeom>
        </p:spPr>
        <p:txBody>
          <a:bodyPr lIns="71437" tIns="71437" rIns="71437" bIns="71437"/>
          <a:lstStyle>
            <a:lvl1pPr defTabSz="642937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E044-39D6-4C26-9C3A-9038BF69DDD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92961" y="13104376"/>
            <a:ext cx="596317" cy="471924"/>
          </a:xfrm>
        </p:spPr>
        <p:txBody>
          <a:bodyPr/>
          <a:lstStyle/>
          <a:p>
            <a:fld id="{0AF04025-D3F5-48FB-A588-87CDCCFA3DB4}" type="slidenum">
              <a:rPr lang="en-IN" smtClean="0"/>
              <a:t>‹#›</a:t>
            </a:fld>
            <a:endParaRPr lang="en-IN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24384000" cy="13716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103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000" y="355600"/>
            <a:ext cx="20828000" cy="3492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4625788"/>
            <a:ext cx="20828000" cy="72972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892961" y="13104376"/>
            <a:ext cx="596317" cy="471924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19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778000" y="1498600"/>
            <a:ext cx="20828000" cy="1071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>
              <a:buBlip>
                <a:blip r:embed="rId19"/>
              </a:buBlip>
            </a:lvl1pPr>
            <a:lvl2pPr>
              <a:buBlip>
                <a:blip r:embed="rId19"/>
              </a:buBlip>
            </a:lvl2pPr>
            <a:lvl3pPr>
              <a:buBlip>
                <a:blip r:embed="rId19"/>
              </a:buBlip>
            </a:lvl3pPr>
            <a:lvl4pPr>
              <a:buBlip>
                <a:blip r:embed="rId19"/>
              </a:buBlip>
            </a:lvl4pPr>
            <a:lvl5pPr>
              <a:buBlip>
                <a:blip r:embed="rId19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778000" y="355600"/>
            <a:ext cx="20828000" cy="349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11936944" y="13008841"/>
            <a:ext cx="508351" cy="5674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>
              <a:spcBef>
                <a:spcPts val="0"/>
              </a:spcBef>
              <a:defRPr sz="2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7" r:id="rId14"/>
    <p:sldLayoutId id="2147483668" r:id="rId15"/>
    <p:sldLayoutId id="2147483669" r:id="rId16"/>
  </p:sldLayoutIdLst>
  <p:transition spd="med"/>
  <p:txStyles>
    <p:titleStyle>
      <a:lvl1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1pPr>
      <a:lvl2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2pPr>
      <a:lvl3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3pPr>
      <a:lvl4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4pPr>
      <a:lvl5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5pPr>
      <a:lvl6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6pPr>
      <a:lvl7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7pPr>
      <a:lvl8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8pPr>
      <a:lvl9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9pPr>
    </p:titleStyle>
    <p:bodyStyle>
      <a:lvl1pPr marL="579120" marR="0" indent="-579120" algn="l" defTabSz="647700" rtl="0" latinLnBrk="0">
        <a:lnSpc>
          <a:spcPct val="100000"/>
        </a:lnSpc>
        <a:spcBef>
          <a:spcPts val="5100"/>
        </a:spcBef>
        <a:spcAft>
          <a:spcPts val="0"/>
        </a:spcAft>
        <a:buClrTx/>
        <a:buSzPct val="43000"/>
        <a:buFontTx/>
        <a:buBlip>
          <a:blip r:embed="rId19"/>
        </a:buBlip>
        <a:tabLst/>
        <a:defRPr sz="3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1pPr>
      <a:lvl2pPr marL="1341120" marR="0" indent="-579120" algn="l" defTabSz="647700" rtl="0" latinLnBrk="0">
        <a:lnSpc>
          <a:spcPct val="100000"/>
        </a:lnSpc>
        <a:spcBef>
          <a:spcPts val="5100"/>
        </a:spcBef>
        <a:spcAft>
          <a:spcPts val="0"/>
        </a:spcAft>
        <a:buClrTx/>
        <a:buSzPct val="43000"/>
        <a:buFontTx/>
        <a:buBlip>
          <a:blip r:embed="rId19"/>
        </a:buBlip>
        <a:tabLst/>
        <a:defRPr sz="3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2pPr>
      <a:lvl3pPr marL="2103120" marR="0" indent="-579120" algn="l" defTabSz="647700" rtl="0" latinLnBrk="0">
        <a:lnSpc>
          <a:spcPct val="100000"/>
        </a:lnSpc>
        <a:spcBef>
          <a:spcPts val="5100"/>
        </a:spcBef>
        <a:spcAft>
          <a:spcPts val="0"/>
        </a:spcAft>
        <a:buClrTx/>
        <a:buSzPct val="43000"/>
        <a:buFontTx/>
        <a:buBlip>
          <a:blip r:embed="rId19"/>
        </a:buBlip>
        <a:tabLst/>
        <a:defRPr sz="3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3pPr>
      <a:lvl4pPr marL="2865120" marR="0" indent="-579120" algn="l" defTabSz="647700" rtl="0" latinLnBrk="0">
        <a:lnSpc>
          <a:spcPct val="100000"/>
        </a:lnSpc>
        <a:spcBef>
          <a:spcPts val="5100"/>
        </a:spcBef>
        <a:spcAft>
          <a:spcPts val="0"/>
        </a:spcAft>
        <a:buClrTx/>
        <a:buSzPct val="43000"/>
        <a:buFontTx/>
        <a:buBlip>
          <a:blip r:embed="rId19"/>
        </a:buBlip>
        <a:tabLst/>
        <a:defRPr sz="3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4pPr>
      <a:lvl5pPr marL="3627120" marR="0" indent="-579120" algn="l" defTabSz="647700" rtl="0" latinLnBrk="0">
        <a:lnSpc>
          <a:spcPct val="100000"/>
        </a:lnSpc>
        <a:spcBef>
          <a:spcPts val="5100"/>
        </a:spcBef>
        <a:spcAft>
          <a:spcPts val="0"/>
        </a:spcAft>
        <a:buClrTx/>
        <a:buSzPct val="43000"/>
        <a:buFontTx/>
        <a:buBlip>
          <a:blip r:embed="rId19"/>
        </a:buBlip>
        <a:tabLst/>
        <a:defRPr sz="3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5pPr>
      <a:lvl6pPr marL="4389120" marR="0" indent="-579120" algn="l" defTabSz="647700" rtl="0" latinLnBrk="0">
        <a:lnSpc>
          <a:spcPct val="100000"/>
        </a:lnSpc>
        <a:spcBef>
          <a:spcPts val="5100"/>
        </a:spcBef>
        <a:spcAft>
          <a:spcPts val="0"/>
        </a:spcAft>
        <a:buClrTx/>
        <a:buSzPct val="43000"/>
        <a:buFontTx/>
        <a:buBlip>
          <a:blip r:embed="rId19"/>
        </a:buBlip>
        <a:tabLst/>
        <a:defRPr sz="3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6pPr>
      <a:lvl7pPr marL="5151120" marR="0" indent="-579120" algn="l" defTabSz="647700" rtl="0" latinLnBrk="0">
        <a:lnSpc>
          <a:spcPct val="100000"/>
        </a:lnSpc>
        <a:spcBef>
          <a:spcPts val="5100"/>
        </a:spcBef>
        <a:spcAft>
          <a:spcPts val="0"/>
        </a:spcAft>
        <a:buClrTx/>
        <a:buSzPct val="43000"/>
        <a:buFontTx/>
        <a:buBlip>
          <a:blip r:embed="rId19"/>
        </a:buBlip>
        <a:tabLst/>
        <a:defRPr sz="3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7pPr>
      <a:lvl8pPr marL="5913120" marR="0" indent="-579120" algn="l" defTabSz="647700" rtl="0" latinLnBrk="0">
        <a:lnSpc>
          <a:spcPct val="100000"/>
        </a:lnSpc>
        <a:spcBef>
          <a:spcPts val="5100"/>
        </a:spcBef>
        <a:spcAft>
          <a:spcPts val="0"/>
        </a:spcAft>
        <a:buClrTx/>
        <a:buSzPct val="43000"/>
        <a:buFontTx/>
        <a:buBlip>
          <a:blip r:embed="rId19"/>
        </a:buBlip>
        <a:tabLst/>
        <a:defRPr sz="3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8pPr>
      <a:lvl9pPr marL="6675119" marR="0" indent="-579119" algn="l" defTabSz="647700" rtl="0" latinLnBrk="0">
        <a:lnSpc>
          <a:spcPct val="100000"/>
        </a:lnSpc>
        <a:spcBef>
          <a:spcPts val="5100"/>
        </a:spcBef>
        <a:spcAft>
          <a:spcPts val="0"/>
        </a:spcAft>
        <a:buClrTx/>
        <a:buSzPct val="43000"/>
        <a:buFontTx/>
        <a:buBlip>
          <a:blip r:embed="rId19"/>
        </a:buBlip>
        <a:tabLst/>
        <a:defRPr sz="3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9pPr>
    </p:bodyStyle>
    <p:otherStyle>
      <a:lvl1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1pPr>
      <a:lvl2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2pPr>
      <a:lvl3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3pPr>
      <a:lvl4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4pPr>
      <a:lvl5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5pPr>
      <a:lvl6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6pPr>
      <a:lvl7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7pPr>
      <a:lvl8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8pPr>
      <a:lvl9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-Dr. Khushraj Nanik Madnani Postdoctoral researcher"/>
          <p:cNvSpPr txBox="1">
            <a:spLocks noGrp="1"/>
          </p:cNvSpPr>
          <p:nvPr>
            <p:ph type="body" sz="quarter" idx="1"/>
          </p:nvPr>
        </p:nvSpPr>
        <p:spPr>
          <a:xfrm>
            <a:off x="11717868" y="9024232"/>
            <a:ext cx="11486106" cy="2236435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0" indent="0" algn="r">
              <a:spcBef>
                <a:spcPts val="0"/>
              </a:spcBef>
              <a:buSzTx/>
              <a:buNone/>
              <a:defRPr sz="4800"/>
            </a:pPr>
            <a:r>
              <a:rPr dirty="0"/>
              <a:t>-Dr. </a:t>
            </a:r>
            <a:r>
              <a:rPr dirty="0" err="1"/>
              <a:t>Khushraj</a:t>
            </a:r>
            <a:r>
              <a:rPr dirty="0"/>
              <a:t> </a:t>
            </a:r>
            <a:r>
              <a:rPr dirty="0" err="1"/>
              <a:t>Nanik</a:t>
            </a:r>
            <a:r>
              <a:rPr dirty="0"/>
              <a:t> </a:t>
            </a:r>
            <a:r>
              <a:rPr dirty="0" err="1"/>
              <a:t>Madnani</a:t>
            </a:r>
            <a:br>
              <a:rPr dirty="0"/>
            </a:br>
            <a:r>
              <a:rPr lang="en-US" dirty="0"/>
              <a:t>Asst. Prof., Dept. of CSE, IIT Guwahati</a:t>
            </a:r>
            <a:endParaRPr dirty="0"/>
          </a:p>
        </p:txBody>
      </p:sp>
      <p:sp>
        <p:nvSpPr>
          <p:cNvPr id="183" name="From Logics to State Machines: A Tale of Three Cities."/>
          <p:cNvSpPr txBox="1"/>
          <p:nvPr/>
        </p:nvSpPr>
        <p:spPr>
          <a:xfrm>
            <a:off x="321733" y="445223"/>
            <a:ext cx="23909867" cy="5027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a14="http://schemas.microsoft.com/office/drawing/2010/main" xmlns="" xmlns:m="http://schemas.openxmlformats.org/officeDocument/2006/math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ctr">
              <a:defRPr sz="9000"/>
            </a:pPr>
            <a:r>
              <a:rPr lang="en-IN" sz="8000" dirty="0"/>
              <a:t>DA 351 Computer Systems</a:t>
            </a:r>
            <a:br>
              <a:rPr lang="en-IN" sz="8000" dirty="0"/>
            </a:br>
            <a:br>
              <a:rPr lang="en-IN" sz="8000" dirty="0"/>
            </a:br>
            <a:r>
              <a:rPr lang="en-IN" sz="8000" dirty="0"/>
              <a:t>The Infantry School, MHOW, MP, INDIA</a:t>
            </a:r>
            <a:br>
              <a:rPr lang="en-IN" sz="8000" dirty="0"/>
            </a:br>
            <a:endParaRPr sz="80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AD7AA-E6B9-4F4B-92C9-783C3C272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Computer?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096E2-AD69-46C4-8EA4-9073006E2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 computer is a machine that solves problems by taking inputs, processing them according to instructions, and producing outputs.</a:t>
            </a:r>
            <a:endParaRPr lang="en-US" dirty="0"/>
          </a:p>
          <a:p>
            <a:r>
              <a:rPr lang="en-US" b="1" dirty="0"/>
              <a:t>A computer is not just a laptop or desktop—it can be a smartphone, ECU of a car, a tank, or a controller of a UAV.</a:t>
            </a:r>
            <a:endParaRPr lang="en-US" dirty="0"/>
          </a:p>
          <a:p>
            <a:r>
              <a:rPr lang="en-US" b="1" dirty="0"/>
              <a:t>Even though these computers look very different, they all follow some similar principles for representing data, executing instructions, managing resources, and communicating with the outside world.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31091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02183-BA66-4DD7-A59C-87AC4B1C0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this Course about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4EB23-412B-48D4-8768-4A6FED5D4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Combination of three different courses:</a:t>
            </a:r>
          </a:p>
          <a:p>
            <a:r>
              <a:rPr lang="en-IN" dirty="0"/>
              <a:t>Computer Organization: Components of a computer and its organization.</a:t>
            </a:r>
          </a:p>
          <a:p>
            <a:r>
              <a:rPr lang="en-IN" dirty="0"/>
              <a:t>Operating Systems: The manager deciding how those components of the computers will be used for performing different tasks.</a:t>
            </a:r>
          </a:p>
          <a:p>
            <a:r>
              <a:rPr lang="en-IN" dirty="0"/>
              <a:t>Computer Networks: Going </a:t>
            </a:r>
            <a:r>
              <a:rPr lang="en-IN" dirty="0" err="1"/>
              <a:t>beyong</a:t>
            </a:r>
            <a:r>
              <a:rPr lang="en-IN" dirty="0"/>
              <a:t> a single agent (a computer) to a society (a network of computers).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Let’s understand this via Human &lt;-&gt; Computer Analogy.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130229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A6C1C-E4F4-4C21-B6EE-8E99995D3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55600"/>
            <a:ext cx="21747018" cy="3492500"/>
          </a:xfrm>
        </p:spPr>
        <p:txBody>
          <a:bodyPr/>
          <a:lstStyle/>
          <a:p>
            <a:r>
              <a:rPr lang="en-IN" dirty="0"/>
              <a:t>Levels of existence of an individual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4538C-F87D-42AB-8C84-648F579C1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00" y="4610100"/>
            <a:ext cx="20828000" cy="8540634"/>
          </a:xfrm>
        </p:spPr>
        <p:txBody>
          <a:bodyPr>
            <a:normAutofit/>
          </a:bodyPr>
          <a:lstStyle/>
          <a:p>
            <a:r>
              <a:rPr lang="en-IN" dirty="0"/>
              <a:t>Body and Senses</a:t>
            </a:r>
          </a:p>
          <a:p>
            <a:r>
              <a:rPr lang="en-IN" dirty="0"/>
              <a:t>Mind</a:t>
            </a:r>
          </a:p>
          <a:p>
            <a:r>
              <a:rPr lang="en-IN" dirty="0"/>
              <a:t>Breath</a:t>
            </a:r>
          </a:p>
          <a:p>
            <a:r>
              <a:rPr lang="en-IN" dirty="0"/>
              <a:t>Intellect</a:t>
            </a:r>
          </a:p>
          <a:p>
            <a:r>
              <a:rPr lang="en-IN" dirty="0"/>
              <a:t>Memory</a:t>
            </a:r>
          </a:p>
          <a:p>
            <a:r>
              <a:rPr lang="en-IN" dirty="0"/>
              <a:t>Ego</a:t>
            </a:r>
          </a:p>
          <a:p>
            <a:r>
              <a:rPr lang="en-IN" dirty="0"/>
              <a:t>Self/Soul/Consciousness</a:t>
            </a:r>
          </a:p>
        </p:txBody>
      </p:sp>
    </p:spTree>
    <p:extLst>
      <p:ext uri="{BB962C8B-B14F-4D97-AF65-F5344CB8AC3E}">
        <p14:creationId xmlns:p14="http://schemas.microsoft.com/office/powerpoint/2010/main" val="7589163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A6C1C-E4F4-4C21-B6EE-8E99995D3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355600"/>
            <a:ext cx="23907404" cy="3492500"/>
          </a:xfrm>
        </p:spPr>
        <p:txBody>
          <a:bodyPr>
            <a:normAutofit/>
          </a:bodyPr>
          <a:lstStyle/>
          <a:p>
            <a:r>
              <a:rPr lang="en-IN" sz="9600" dirty="0"/>
              <a:t>Aspects of Individuals as problem solver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4538C-F87D-42AB-8C84-648F579C1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00" y="3898899"/>
            <a:ext cx="20828000" cy="9251835"/>
          </a:xfrm>
        </p:spPr>
        <p:txBody>
          <a:bodyPr>
            <a:normAutofit/>
          </a:bodyPr>
          <a:lstStyle/>
          <a:p>
            <a:r>
              <a:rPr lang="en-IN" dirty="0"/>
              <a:t>Body and Senses</a:t>
            </a:r>
          </a:p>
          <a:p>
            <a:r>
              <a:rPr lang="en-IN" dirty="0"/>
              <a:t>Mind</a:t>
            </a:r>
          </a:p>
          <a:p>
            <a:r>
              <a:rPr lang="en-IN" sz="1000" dirty="0"/>
              <a:t>Breath</a:t>
            </a:r>
          </a:p>
          <a:p>
            <a:r>
              <a:rPr lang="en-IN" dirty="0"/>
              <a:t>Intellect</a:t>
            </a:r>
          </a:p>
          <a:p>
            <a:r>
              <a:rPr lang="en-IN" dirty="0"/>
              <a:t>Memory</a:t>
            </a:r>
          </a:p>
          <a:p>
            <a:r>
              <a:rPr lang="en-IN" sz="1100" dirty="0"/>
              <a:t>Ego</a:t>
            </a:r>
          </a:p>
          <a:p>
            <a:r>
              <a:rPr lang="en-IN" sz="1200" dirty="0"/>
              <a:t>Self/Soul/</a:t>
            </a:r>
            <a:r>
              <a:rPr lang="en-IN" sz="1200" dirty="0" err="1"/>
              <a:t>Conciousness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00645559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A6C1C-E4F4-4C21-B6EE-8E99995D3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355600"/>
            <a:ext cx="23907404" cy="3492500"/>
          </a:xfrm>
        </p:spPr>
        <p:txBody>
          <a:bodyPr>
            <a:normAutofit/>
          </a:bodyPr>
          <a:lstStyle/>
          <a:p>
            <a:r>
              <a:rPr lang="en-IN" sz="9600" dirty="0"/>
              <a:t>Aspects of Individuals as problem solver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4538C-F87D-42AB-8C84-648F579C1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00" y="3898899"/>
            <a:ext cx="20828000" cy="9251835"/>
          </a:xfrm>
        </p:spPr>
        <p:txBody>
          <a:bodyPr>
            <a:normAutofit/>
          </a:bodyPr>
          <a:lstStyle/>
          <a:p>
            <a:r>
              <a:rPr lang="en-IN" dirty="0"/>
              <a:t>Body: Knowledge Senses (Ears, Tongue, etc.), Action Senses (Speech, movement etc.)</a:t>
            </a:r>
          </a:p>
          <a:p>
            <a:r>
              <a:rPr lang="en-IN" dirty="0"/>
              <a:t>Mind: Analysis, complex computations, calculations etc.</a:t>
            </a:r>
          </a:p>
          <a:p>
            <a:r>
              <a:rPr lang="en-IN" sz="1000" dirty="0"/>
              <a:t>Breath</a:t>
            </a:r>
          </a:p>
          <a:p>
            <a:r>
              <a:rPr lang="en-IN" dirty="0"/>
              <a:t>Intellect: The decision making part (what is safe/unsafe, appropriate/inappropriate etc.)	</a:t>
            </a:r>
          </a:p>
          <a:p>
            <a:r>
              <a:rPr lang="en-IN" dirty="0"/>
              <a:t>Memory: Used to remember the perceived information.</a:t>
            </a:r>
          </a:p>
          <a:p>
            <a:r>
              <a:rPr lang="en-IN" sz="1100" dirty="0"/>
              <a:t>Ego</a:t>
            </a:r>
          </a:p>
          <a:p>
            <a:r>
              <a:rPr lang="en-IN" sz="1200" dirty="0"/>
              <a:t>Self/Soul/</a:t>
            </a:r>
            <a:r>
              <a:rPr lang="en-IN" sz="1200" dirty="0" err="1"/>
              <a:t>Conciousness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71647870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CAF2F-AFAD-40E6-9065-9F82E3E8C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Computer Organization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DD125-64E4-4750-B931-5F213F54E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Study of Senses-Mind-Memory interaction of a computer.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 descr="components of hardware consist of central processing unit, input and output device">
            <a:extLst>
              <a:ext uri="{FF2B5EF4-FFF2-40B4-BE49-F238E27FC236}">
                <a16:creationId xmlns:a16="http://schemas.microsoft.com/office/drawing/2014/main" id="{ED01F8D3-0118-45E7-A343-712594CAC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265" y="5826529"/>
            <a:ext cx="11870574" cy="7374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DDA98A-C22C-4A40-A70F-71225724CD6F}"/>
              </a:ext>
            </a:extLst>
          </p:cNvPr>
          <p:cNvSpPr txBox="1"/>
          <p:nvPr/>
        </p:nvSpPr>
        <p:spPr>
          <a:xfrm>
            <a:off x="5552903" y="8854248"/>
            <a:ext cx="2477192" cy="192616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647700" rtl="0" fontAlgn="auto" latinLnBrk="0" hangingPunct="0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dirty="0">
                <a:solidFill>
                  <a:srgbClr val="FF0000"/>
                </a:solidFill>
              </a:rPr>
              <a:t>Knowledge Senses</a:t>
            </a:r>
            <a:endParaRPr kumimoji="0" lang="en-IN" sz="3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sym typeface="Chalkdus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B7F3A8-A205-4EBA-A87D-9C76B3BEFFCA}"/>
              </a:ext>
            </a:extLst>
          </p:cNvPr>
          <p:cNvSpPr txBox="1"/>
          <p:nvPr/>
        </p:nvSpPr>
        <p:spPr>
          <a:xfrm>
            <a:off x="14732925" y="8854248"/>
            <a:ext cx="1909155" cy="192616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647700" rtl="0" fontAlgn="auto" latinLnBrk="0" hangingPunct="0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dirty="0">
                <a:solidFill>
                  <a:srgbClr val="FF0000"/>
                </a:solidFill>
              </a:rPr>
              <a:t>Action Senses</a:t>
            </a:r>
            <a:endParaRPr kumimoji="0" lang="en-IN" sz="3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sym typeface="Chalkdus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F3471-460A-444A-88C2-C73CCA2A17F9}"/>
              </a:ext>
            </a:extLst>
          </p:cNvPr>
          <p:cNvSpPr txBox="1"/>
          <p:nvPr/>
        </p:nvSpPr>
        <p:spPr>
          <a:xfrm>
            <a:off x="8451274" y="11726619"/>
            <a:ext cx="2477192" cy="13413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647700" rtl="0" fontAlgn="auto" latinLnBrk="0" hangingPunct="0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dirty="0">
                <a:solidFill>
                  <a:srgbClr val="FF0000"/>
                </a:solidFill>
              </a:rPr>
              <a:t>Memory</a:t>
            </a:r>
            <a:endParaRPr kumimoji="0" lang="en-IN" sz="3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sym typeface="Chalkdus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955B60-CC8F-41F0-A278-4D7156D3C710}"/>
              </a:ext>
            </a:extLst>
          </p:cNvPr>
          <p:cNvSpPr/>
          <p:nvPr/>
        </p:nvSpPr>
        <p:spPr>
          <a:xfrm>
            <a:off x="8645236" y="8628611"/>
            <a:ext cx="4821382" cy="980902"/>
          </a:xfrm>
          <a:prstGeom prst="rect">
            <a:avLst/>
          </a:prstGeom>
          <a:noFill/>
          <a:ln w="57150" cap="flat">
            <a:solidFill>
              <a:schemeClr val="bg2">
                <a:lumMod val="50000"/>
              </a:schemeClr>
            </a:solidFill>
            <a:miter lim="400000"/>
          </a:ln>
          <a:effectLst>
            <a:outerShdw blurRad="63500" dir="162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63500" dist="25400" dir="2700000" rotWithShape="0">
                  <a:srgbClr val="000000">
                    <a:alpha val="7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Chalkdus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682A61-B18A-405B-B98D-BF9A464A20B5}"/>
              </a:ext>
            </a:extLst>
          </p:cNvPr>
          <p:cNvSpPr txBox="1"/>
          <p:nvPr/>
        </p:nvSpPr>
        <p:spPr>
          <a:xfrm>
            <a:off x="5793973" y="5775729"/>
            <a:ext cx="2477192" cy="13413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647700" rtl="0" fontAlgn="auto" latinLnBrk="0" hangingPunct="0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dirty="0">
                <a:solidFill>
                  <a:srgbClr val="FF0000"/>
                </a:solidFill>
              </a:rPr>
              <a:t>Mind</a:t>
            </a:r>
            <a:endParaRPr kumimoji="0" lang="en-IN" sz="3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sym typeface="Chalkduster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014753-17F8-4A96-B443-F3D512C6EAB5}"/>
              </a:ext>
            </a:extLst>
          </p:cNvPr>
          <p:cNvCxnSpPr>
            <a:cxnSpLocks/>
          </p:cNvCxnSpPr>
          <p:nvPr/>
        </p:nvCxnSpPr>
        <p:spPr>
          <a:xfrm>
            <a:off x="7146522" y="7167922"/>
            <a:ext cx="1479665" cy="1408874"/>
          </a:xfrm>
          <a:prstGeom prst="straightConnector1">
            <a:avLst/>
          </a:prstGeom>
          <a:noFill/>
          <a:ln w="38100">
            <a:solidFill>
              <a:schemeClr val="bg2"/>
            </a:solidFill>
            <a:headEnd type="arrow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07378845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CAF2F-AFAD-40E6-9065-9F82E3E8C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759" y="-734875"/>
            <a:ext cx="20828000" cy="3492500"/>
          </a:xfrm>
        </p:spPr>
        <p:txBody>
          <a:bodyPr/>
          <a:lstStyle/>
          <a:p>
            <a:r>
              <a:rPr lang="en-IN" dirty="0"/>
              <a:t>Operating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DD125-64E4-4750-B931-5F213F54E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0759" y="3036236"/>
            <a:ext cx="20828000" cy="655955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Study of a special software that decides and manages the working of  Mind, Memory, Senses – The intellect.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955B60-CC8F-41F0-A278-4D7156D3C710}"/>
              </a:ext>
            </a:extLst>
          </p:cNvPr>
          <p:cNvSpPr/>
          <p:nvPr/>
        </p:nvSpPr>
        <p:spPr>
          <a:xfrm>
            <a:off x="8645236" y="8628611"/>
            <a:ext cx="4821382" cy="980902"/>
          </a:xfrm>
          <a:prstGeom prst="rect">
            <a:avLst/>
          </a:prstGeom>
          <a:noFill/>
          <a:ln w="57150" cap="flat">
            <a:solidFill>
              <a:schemeClr val="bg2">
                <a:lumMod val="50000"/>
              </a:schemeClr>
            </a:solidFill>
            <a:miter lim="400000"/>
          </a:ln>
          <a:effectLst>
            <a:outerShdw blurRad="63500" dir="162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63500" dist="25400" dir="2700000" rotWithShape="0">
                  <a:srgbClr val="000000">
                    <a:alpha val="7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Chalkduster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816D291-DFE0-4AC7-BF8D-2D2148A49F7D}"/>
              </a:ext>
            </a:extLst>
          </p:cNvPr>
          <p:cNvGrpSpPr/>
          <p:nvPr/>
        </p:nvGrpSpPr>
        <p:grpSpPr>
          <a:xfrm>
            <a:off x="5384914" y="6337115"/>
            <a:ext cx="12503036" cy="7326856"/>
            <a:chOff x="5137265" y="5372753"/>
            <a:chExt cx="11870574" cy="7827858"/>
          </a:xfrm>
        </p:grpSpPr>
        <p:pic>
          <p:nvPicPr>
            <p:cNvPr id="1026" name="Picture 2" descr="components of hardware consist of central processing unit, input and output device">
              <a:extLst>
                <a:ext uri="{FF2B5EF4-FFF2-40B4-BE49-F238E27FC236}">
                  <a16:creationId xmlns:a16="http://schemas.microsoft.com/office/drawing/2014/main" id="{ED01F8D3-0118-45E7-A343-712594CAC7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7265" y="5826529"/>
              <a:ext cx="11870574" cy="73740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0DDA98A-C22C-4A40-A70F-71225724CD6F}"/>
                </a:ext>
              </a:extLst>
            </p:cNvPr>
            <p:cNvSpPr txBox="1"/>
            <p:nvPr/>
          </p:nvSpPr>
          <p:spPr>
            <a:xfrm>
              <a:off x="5552903" y="8854248"/>
              <a:ext cx="2477192" cy="19261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647700" rtl="0" fontAlgn="auto" latinLnBrk="0" hangingPunct="0">
                <a:lnSpc>
                  <a:spcPct val="100000"/>
                </a:lnSpc>
                <a:spcBef>
                  <a:spcPts val="5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IN" dirty="0">
                  <a:solidFill>
                    <a:srgbClr val="FF0000"/>
                  </a:solidFill>
                </a:rPr>
                <a:t>Knowledge Senses</a:t>
              </a:r>
              <a:endParaRPr kumimoji="0" lang="en-IN" sz="3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halkduster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B7F3A8-A205-4EBA-A87D-9C76B3BEFFCA}"/>
                </a:ext>
              </a:extLst>
            </p:cNvPr>
            <p:cNvSpPr txBox="1"/>
            <p:nvPr/>
          </p:nvSpPr>
          <p:spPr>
            <a:xfrm>
              <a:off x="14732925" y="8854248"/>
              <a:ext cx="1909155" cy="19261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647700" rtl="0" fontAlgn="auto" latinLnBrk="0" hangingPunct="0">
                <a:lnSpc>
                  <a:spcPct val="100000"/>
                </a:lnSpc>
                <a:spcBef>
                  <a:spcPts val="5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IN" dirty="0">
                  <a:solidFill>
                    <a:srgbClr val="FF0000"/>
                  </a:solidFill>
                </a:rPr>
                <a:t>Action Senses</a:t>
              </a:r>
              <a:endParaRPr kumimoji="0" lang="en-IN" sz="3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halkduster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3EF3471-460A-444A-88C2-C73CCA2A17F9}"/>
                </a:ext>
              </a:extLst>
            </p:cNvPr>
            <p:cNvSpPr txBox="1"/>
            <p:nvPr/>
          </p:nvSpPr>
          <p:spPr>
            <a:xfrm>
              <a:off x="8451274" y="11726619"/>
              <a:ext cx="2477192" cy="13413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647700" rtl="0" fontAlgn="auto" latinLnBrk="0" hangingPunct="0">
                <a:lnSpc>
                  <a:spcPct val="100000"/>
                </a:lnSpc>
                <a:spcBef>
                  <a:spcPts val="5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IN" dirty="0">
                  <a:solidFill>
                    <a:srgbClr val="FF0000"/>
                  </a:solidFill>
                </a:rPr>
                <a:t>Memory</a:t>
              </a:r>
              <a:endParaRPr kumimoji="0" lang="en-IN" sz="3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halkduster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682A61-B18A-405B-B98D-BF9A464A20B5}"/>
                </a:ext>
              </a:extLst>
            </p:cNvPr>
            <p:cNvSpPr txBox="1"/>
            <p:nvPr/>
          </p:nvSpPr>
          <p:spPr>
            <a:xfrm>
              <a:off x="5571167" y="5372753"/>
              <a:ext cx="2477192" cy="13413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647700" rtl="0" fontAlgn="auto" latinLnBrk="0" hangingPunct="0">
                <a:lnSpc>
                  <a:spcPct val="100000"/>
                </a:lnSpc>
                <a:spcBef>
                  <a:spcPts val="5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IN" dirty="0">
                  <a:solidFill>
                    <a:srgbClr val="FF0000"/>
                  </a:solidFill>
                </a:rPr>
                <a:t>Mind</a:t>
              </a:r>
              <a:endParaRPr kumimoji="0" lang="en-IN" sz="3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halkduster"/>
              </a:endParaRP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014753-17F8-4A96-B443-F3D512C6EAB5}"/>
              </a:ext>
            </a:extLst>
          </p:cNvPr>
          <p:cNvCxnSpPr>
            <a:cxnSpLocks/>
          </p:cNvCxnSpPr>
          <p:nvPr/>
        </p:nvCxnSpPr>
        <p:spPr>
          <a:xfrm>
            <a:off x="7146522" y="7167922"/>
            <a:ext cx="1479665" cy="1408874"/>
          </a:xfrm>
          <a:prstGeom prst="straightConnector1">
            <a:avLst/>
          </a:prstGeom>
          <a:noFill/>
          <a:ln w="38100">
            <a:solidFill>
              <a:schemeClr val="bg2"/>
            </a:solidFill>
            <a:headEnd type="arrow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6579D5D-8A6E-4BCA-B3FC-93AD18BCB513}"/>
              </a:ext>
            </a:extLst>
          </p:cNvPr>
          <p:cNvSpPr txBox="1"/>
          <p:nvPr/>
        </p:nvSpPr>
        <p:spPr>
          <a:xfrm>
            <a:off x="7127285" y="3976732"/>
            <a:ext cx="10114948" cy="13413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647700" rtl="0" fontAlgn="auto" latinLnBrk="0" hangingPunct="0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halkduster"/>
              </a:rPr>
              <a:t>Operating Systems: Control and Coordinate 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D4B0DC36-AE53-4BB3-9E37-9A97F00F576D}"/>
              </a:ext>
            </a:extLst>
          </p:cNvPr>
          <p:cNvSpPr/>
          <p:nvPr/>
        </p:nvSpPr>
        <p:spPr>
          <a:xfrm>
            <a:off x="11366788" y="5260923"/>
            <a:ext cx="1650423" cy="1883070"/>
          </a:xfrm>
          <a:prstGeom prst="down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63500" dir="162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63500" dist="25400" dir="2700000" rotWithShape="0">
                  <a:srgbClr val="000000">
                    <a:alpha val="7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Chalkduster"/>
            </a:endParaRPr>
          </a:p>
        </p:txBody>
      </p:sp>
    </p:spTree>
    <p:extLst>
      <p:ext uri="{BB962C8B-B14F-4D97-AF65-F5344CB8AC3E}">
        <p14:creationId xmlns:p14="http://schemas.microsoft.com/office/powerpoint/2010/main" val="26288354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CAF2F-AFAD-40E6-9065-9F82E3E8C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759" y="-821217"/>
            <a:ext cx="20828000" cy="3492500"/>
          </a:xfrm>
        </p:spPr>
        <p:txBody>
          <a:bodyPr/>
          <a:lstStyle/>
          <a:p>
            <a:r>
              <a:rPr lang="en-IN" dirty="0"/>
              <a:t>Operating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DD125-64E4-4750-B931-5F213F54E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0759" y="2922683"/>
            <a:ext cx="20828000" cy="655955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The operating system is not part of the computation — it is the system that </a:t>
            </a:r>
            <a:r>
              <a:rPr lang="en-US" b="1" dirty="0">
                <a:solidFill>
                  <a:schemeClr val="accent6"/>
                </a:solidFill>
              </a:rPr>
              <a:t>controls access to computation</a:t>
            </a: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955B60-CC8F-41F0-A278-4D7156D3C710}"/>
              </a:ext>
            </a:extLst>
          </p:cNvPr>
          <p:cNvSpPr/>
          <p:nvPr/>
        </p:nvSpPr>
        <p:spPr>
          <a:xfrm>
            <a:off x="8645236" y="8628611"/>
            <a:ext cx="4821382" cy="980902"/>
          </a:xfrm>
          <a:prstGeom prst="rect">
            <a:avLst/>
          </a:prstGeom>
          <a:noFill/>
          <a:ln w="57150" cap="flat">
            <a:solidFill>
              <a:schemeClr val="bg2">
                <a:lumMod val="50000"/>
              </a:schemeClr>
            </a:solidFill>
            <a:miter lim="400000"/>
          </a:ln>
          <a:effectLst>
            <a:outerShdw blurRad="63500" dir="162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63500" dist="25400" dir="2700000" rotWithShape="0">
                  <a:srgbClr val="000000">
                    <a:alpha val="7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Chalkduster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816D291-DFE0-4AC7-BF8D-2D2148A49F7D}"/>
              </a:ext>
            </a:extLst>
          </p:cNvPr>
          <p:cNvGrpSpPr/>
          <p:nvPr/>
        </p:nvGrpSpPr>
        <p:grpSpPr>
          <a:xfrm>
            <a:off x="5384914" y="6337115"/>
            <a:ext cx="12503036" cy="7326856"/>
            <a:chOff x="5137265" y="5372753"/>
            <a:chExt cx="11870574" cy="7827858"/>
          </a:xfrm>
        </p:grpSpPr>
        <p:pic>
          <p:nvPicPr>
            <p:cNvPr id="1026" name="Picture 2" descr="components of hardware consist of central processing unit, input and output device">
              <a:extLst>
                <a:ext uri="{FF2B5EF4-FFF2-40B4-BE49-F238E27FC236}">
                  <a16:creationId xmlns:a16="http://schemas.microsoft.com/office/drawing/2014/main" id="{ED01F8D3-0118-45E7-A343-712594CAC7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7265" y="5826529"/>
              <a:ext cx="11870574" cy="73740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0DDA98A-C22C-4A40-A70F-71225724CD6F}"/>
                </a:ext>
              </a:extLst>
            </p:cNvPr>
            <p:cNvSpPr txBox="1"/>
            <p:nvPr/>
          </p:nvSpPr>
          <p:spPr>
            <a:xfrm>
              <a:off x="5552903" y="8854248"/>
              <a:ext cx="2477192" cy="19261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647700" rtl="0" fontAlgn="auto" latinLnBrk="0" hangingPunct="0">
                <a:lnSpc>
                  <a:spcPct val="100000"/>
                </a:lnSpc>
                <a:spcBef>
                  <a:spcPts val="5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IN" dirty="0">
                  <a:solidFill>
                    <a:srgbClr val="FF0000"/>
                  </a:solidFill>
                </a:rPr>
                <a:t>Knowledge Senses</a:t>
              </a:r>
              <a:endParaRPr kumimoji="0" lang="en-IN" sz="3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halkduster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B7F3A8-A205-4EBA-A87D-9C76B3BEFFCA}"/>
                </a:ext>
              </a:extLst>
            </p:cNvPr>
            <p:cNvSpPr txBox="1"/>
            <p:nvPr/>
          </p:nvSpPr>
          <p:spPr>
            <a:xfrm>
              <a:off x="14732925" y="8854248"/>
              <a:ext cx="1909155" cy="19261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647700" rtl="0" fontAlgn="auto" latinLnBrk="0" hangingPunct="0">
                <a:lnSpc>
                  <a:spcPct val="100000"/>
                </a:lnSpc>
                <a:spcBef>
                  <a:spcPts val="5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IN" dirty="0">
                  <a:solidFill>
                    <a:srgbClr val="FF0000"/>
                  </a:solidFill>
                </a:rPr>
                <a:t>Action Senses</a:t>
              </a:r>
              <a:endParaRPr kumimoji="0" lang="en-IN" sz="3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halkduster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3EF3471-460A-444A-88C2-C73CCA2A17F9}"/>
                </a:ext>
              </a:extLst>
            </p:cNvPr>
            <p:cNvSpPr txBox="1"/>
            <p:nvPr/>
          </p:nvSpPr>
          <p:spPr>
            <a:xfrm>
              <a:off x="8451274" y="11726619"/>
              <a:ext cx="2477192" cy="13413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647700" rtl="0" fontAlgn="auto" latinLnBrk="0" hangingPunct="0">
                <a:lnSpc>
                  <a:spcPct val="100000"/>
                </a:lnSpc>
                <a:spcBef>
                  <a:spcPts val="5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IN" dirty="0">
                  <a:solidFill>
                    <a:srgbClr val="FF0000"/>
                  </a:solidFill>
                </a:rPr>
                <a:t>Memory</a:t>
              </a:r>
              <a:endParaRPr kumimoji="0" lang="en-IN" sz="3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halkduster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682A61-B18A-405B-B98D-BF9A464A20B5}"/>
                </a:ext>
              </a:extLst>
            </p:cNvPr>
            <p:cNvSpPr txBox="1"/>
            <p:nvPr/>
          </p:nvSpPr>
          <p:spPr>
            <a:xfrm>
              <a:off x="5571167" y="5372753"/>
              <a:ext cx="2477192" cy="13413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647700" rtl="0" fontAlgn="auto" latinLnBrk="0" hangingPunct="0">
                <a:lnSpc>
                  <a:spcPct val="100000"/>
                </a:lnSpc>
                <a:spcBef>
                  <a:spcPts val="5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IN" dirty="0">
                  <a:solidFill>
                    <a:srgbClr val="FF0000"/>
                  </a:solidFill>
                </a:rPr>
                <a:t>Mind</a:t>
              </a:r>
              <a:endParaRPr kumimoji="0" lang="en-IN" sz="3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halkduster"/>
              </a:endParaRP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014753-17F8-4A96-B443-F3D512C6EAB5}"/>
              </a:ext>
            </a:extLst>
          </p:cNvPr>
          <p:cNvCxnSpPr>
            <a:cxnSpLocks/>
          </p:cNvCxnSpPr>
          <p:nvPr/>
        </p:nvCxnSpPr>
        <p:spPr>
          <a:xfrm>
            <a:off x="7146522" y="7167922"/>
            <a:ext cx="1479665" cy="1408874"/>
          </a:xfrm>
          <a:prstGeom prst="straightConnector1">
            <a:avLst/>
          </a:prstGeom>
          <a:noFill/>
          <a:ln w="38100">
            <a:solidFill>
              <a:schemeClr val="bg2"/>
            </a:solidFill>
            <a:headEnd type="arrow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6579D5D-8A6E-4BCA-B3FC-93AD18BCB513}"/>
              </a:ext>
            </a:extLst>
          </p:cNvPr>
          <p:cNvSpPr txBox="1"/>
          <p:nvPr/>
        </p:nvSpPr>
        <p:spPr>
          <a:xfrm>
            <a:off x="7127285" y="3976732"/>
            <a:ext cx="10114948" cy="13413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647700" rtl="0" fontAlgn="auto" latinLnBrk="0" hangingPunct="0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halkduster"/>
              </a:rPr>
              <a:t>Operating Systems: Control and Coordinate 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D4B0DC36-AE53-4BB3-9E37-9A97F00F576D}"/>
              </a:ext>
            </a:extLst>
          </p:cNvPr>
          <p:cNvSpPr/>
          <p:nvPr/>
        </p:nvSpPr>
        <p:spPr>
          <a:xfrm>
            <a:off x="11366788" y="5260923"/>
            <a:ext cx="1650423" cy="1883070"/>
          </a:xfrm>
          <a:prstGeom prst="down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63500" dir="162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63500" dist="25400" dir="2700000" rotWithShape="0">
                  <a:srgbClr val="000000">
                    <a:alpha val="7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Chalkduster"/>
            </a:endParaRPr>
          </a:p>
        </p:txBody>
      </p:sp>
    </p:spTree>
    <p:extLst>
      <p:ext uri="{BB962C8B-B14F-4D97-AF65-F5344CB8AC3E}">
        <p14:creationId xmlns:p14="http://schemas.microsoft.com/office/powerpoint/2010/main" val="58461496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1E03B-A020-46FC-96DE-C7BCA856A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From Individuals to Society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86293-6970-45F3-8C0E-2294DAAB7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00" y="3898900"/>
            <a:ext cx="20828000" cy="8039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computer networks, we abstract away the internal behavior of individual computers</a:t>
            </a:r>
            <a:br>
              <a:rPr lang="en-US" dirty="0"/>
            </a:br>
            <a:r>
              <a:rPr lang="en-US" dirty="0"/>
              <a:t>and study the interaction among independent agents. The fundamental problems we begin with are:</a:t>
            </a:r>
          </a:p>
          <a:p>
            <a:r>
              <a:rPr lang="en-US" dirty="0"/>
              <a:t>Protocols – rules of interaction</a:t>
            </a:r>
          </a:p>
          <a:p>
            <a:r>
              <a:rPr lang="en-US" dirty="0"/>
              <a:t>Congestion – delay and loss</a:t>
            </a:r>
          </a:p>
          <a:p>
            <a:r>
              <a:rPr lang="en-US" dirty="0"/>
              <a:t>Communication medium</a:t>
            </a:r>
          </a:p>
          <a:p>
            <a:r>
              <a:rPr lang="en-US" dirty="0"/>
              <a:t>… and related issues such as routing, reliability, and security</a:t>
            </a:r>
            <a:endParaRPr lang="en-IN" dirty="0"/>
          </a:p>
        </p:txBody>
      </p:sp>
      <p:pic>
        <p:nvPicPr>
          <p:cNvPr id="2051" name="Picture 3" descr="Interconnected network diagram">
            <a:extLst>
              <a:ext uri="{FF2B5EF4-FFF2-40B4-BE49-F238E27FC236}">
                <a16:creationId xmlns:a16="http://schemas.microsoft.com/office/drawing/2014/main" id="{4CC52647-5F23-469B-8A6A-11443C2B1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9450" y="6153150"/>
            <a:ext cx="9525000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3751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87E11-4DBA-4E5E-80C8-072B4FA2F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Representation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78CC1-6A7E-4A4E-9B16-BCE69DF56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Information from a Finite Alphabet(English alphabet analogy)</a:t>
            </a:r>
          </a:p>
          <a:p>
            <a:r>
              <a:rPr lang="en-IN" dirty="0"/>
              <a:t>English uses a finite alphabet of 26 letters. Yet we can form infinitely many words and sentences</a:t>
            </a:r>
          </a:p>
          <a:p>
            <a:r>
              <a:rPr lang="en-IN" dirty="0"/>
              <a:t>Meaning comes </a:t>
            </a:r>
            <a:r>
              <a:rPr lang="en-IN" dirty="0" err="1"/>
              <a:t>from:symbols</a:t>
            </a:r>
            <a:r>
              <a:rPr lang="en-IN" dirty="0"/>
              <a:t> ordering context</a:t>
            </a:r>
          </a:p>
          <a:p>
            <a:r>
              <a:rPr lang="en-IN" dirty="0"/>
              <a:t>A small set of symbols can express unbounded information.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Systems parallel: </a:t>
            </a:r>
            <a:br>
              <a:rPr lang="en-IN" dirty="0"/>
            </a:br>
            <a:r>
              <a:rPr lang="en-IN" dirty="0"/>
              <a:t>Computers use a very small alphabet — {0,1} — to represent all information.</a:t>
            </a:r>
          </a:p>
        </p:txBody>
      </p:sp>
    </p:spTree>
    <p:extLst>
      <p:ext uri="{BB962C8B-B14F-4D97-AF65-F5344CB8AC3E}">
        <p14:creationId xmlns:p14="http://schemas.microsoft.com/office/powerpoint/2010/main" val="330161429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4A66A-5AA1-4B96-8A8C-61313E273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Bits as an Alphabet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6C2F2-87DE-4B47-9B0F-8063876E1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bit is a symbol with two possible values 0 or 1</a:t>
            </a:r>
          </a:p>
          <a:p>
            <a:r>
              <a:rPr lang="en-US" dirty="0"/>
              <a:t>Bit strings are sequences over a binary alphabet</a:t>
            </a:r>
          </a:p>
          <a:p>
            <a:r>
              <a:rPr lang="en-US" dirty="0"/>
              <a:t>Any information can be encoded </a:t>
            </a:r>
            <a:r>
              <a:rPr lang="en-US" dirty="0" err="1"/>
              <a:t>as:text</a:t>
            </a:r>
            <a:r>
              <a:rPr lang="en-US" dirty="0"/>
              <a:t>, numbers, images, programs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Key idea:</a:t>
            </a:r>
            <a:br>
              <a:rPr lang="en-US" dirty="0"/>
            </a:br>
            <a:r>
              <a:rPr lang="en-US" dirty="0"/>
              <a:t>Bits are not data; bit patterns become data through interpretation.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59720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DCBAA-6220-4EDC-A332-DC4883F5F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and Decimal: Intuitive Mapping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38D5FC-BCE2-49F7-9E46-7D800A4F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744774"/>
              </p:ext>
            </p:extLst>
          </p:nvPr>
        </p:nvGraphicFramePr>
        <p:xfrm>
          <a:off x="3116349" y="4655127"/>
          <a:ext cx="16256000" cy="7930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45819418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1347842911"/>
                    </a:ext>
                  </a:extLst>
                </a:gridCol>
              </a:tblGrid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673696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386098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8317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604690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endParaRPr lang="en-IN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39914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endParaRPr lang="en-IN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389912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endParaRPr lang="en-IN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377537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endParaRPr lang="en-IN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25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21211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DCBAA-6220-4EDC-A332-DC4883F5F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and Decimal: Intuitive Mapping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38D5FC-BCE2-49F7-9E46-7D800A4F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108868"/>
              </p:ext>
            </p:extLst>
          </p:nvPr>
        </p:nvGraphicFramePr>
        <p:xfrm>
          <a:off x="3116349" y="4655127"/>
          <a:ext cx="16256000" cy="7930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45819418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1347842911"/>
                    </a:ext>
                  </a:extLst>
                </a:gridCol>
              </a:tblGrid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673696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386098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8317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604690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endParaRPr lang="en-IN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39914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endParaRPr lang="en-IN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389912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endParaRPr lang="en-IN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377537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endParaRPr lang="en-IN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25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00028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DCBAA-6220-4EDC-A332-DC4883F5F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and Decimal: Intuitive Mapping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38D5FC-BCE2-49F7-9E46-7D800A4F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757080"/>
              </p:ext>
            </p:extLst>
          </p:nvPr>
        </p:nvGraphicFramePr>
        <p:xfrm>
          <a:off x="3116349" y="4655127"/>
          <a:ext cx="16256000" cy="7930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45819418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1347842911"/>
                    </a:ext>
                  </a:extLst>
                </a:gridCol>
              </a:tblGrid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673696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386098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8317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604690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39914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endParaRPr lang="en-IN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389912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endParaRPr lang="en-IN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377537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endParaRPr lang="en-IN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25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06175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DCBAA-6220-4EDC-A332-DC4883F5F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and Decimal: Intuitive Mapping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38D5FC-BCE2-49F7-9E46-7D800A4F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22013"/>
              </p:ext>
            </p:extLst>
          </p:nvPr>
        </p:nvGraphicFramePr>
        <p:xfrm>
          <a:off x="3116349" y="4655127"/>
          <a:ext cx="16256000" cy="7930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45819418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1347842911"/>
                    </a:ext>
                  </a:extLst>
                </a:gridCol>
              </a:tblGrid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673696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386098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8317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604690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39914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endParaRPr lang="en-IN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389912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endParaRPr lang="en-IN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377537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endParaRPr lang="en-IN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25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47308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DCBAA-6220-4EDC-A332-DC4883F5F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and Decimal: Intuitive Mapping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38D5FC-BCE2-49F7-9E46-7D800A4F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444189"/>
              </p:ext>
            </p:extLst>
          </p:nvPr>
        </p:nvGraphicFramePr>
        <p:xfrm>
          <a:off x="3116349" y="4655127"/>
          <a:ext cx="16256000" cy="7930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45819418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1347842911"/>
                    </a:ext>
                  </a:extLst>
                </a:gridCol>
              </a:tblGrid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673696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386098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8317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604690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39914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r>
                        <a:rPr lang="en-IN" sz="4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389912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endParaRPr lang="en-IN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377537"/>
                  </a:ext>
                </a:extLst>
              </a:tr>
              <a:tr h="991293">
                <a:tc>
                  <a:txBody>
                    <a:bodyPr/>
                    <a:lstStyle/>
                    <a:p>
                      <a:endParaRPr lang="en-IN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25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37870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DCBAA-6220-4EDC-A332-DC4883F5F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and Decimal: Intuitive Mapping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38D5FC-BCE2-49F7-9E46-7D800A4F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270664"/>
              </p:ext>
            </p:extLst>
          </p:nvPr>
        </p:nvGraphicFramePr>
        <p:xfrm>
          <a:off x="3116349" y="4655126"/>
          <a:ext cx="16256000" cy="79750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45819418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1347842911"/>
                    </a:ext>
                  </a:extLst>
                </a:gridCol>
              </a:tblGrid>
              <a:tr h="996878">
                <a:tc>
                  <a:txBody>
                    <a:bodyPr/>
                    <a:lstStyle/>
                    <a:p>
                      <a:r>
                        <a:rPr lang="en-IN" sz="4800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673696"/>
                  </a:ext>
                </a:extLst>
              </a:tr>
              <a:tr h="996878">
                <a:tc>
                  <a:txBody>
                    <a:bodyPr/>
                    <a:lstStyle/>
                    <a:p>
                      <a:r>
                        <a:rPr lang="en-IN" sz="4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386098"/>
                  </a:ext>
                </a:extLst>
              </a:tr>
              <a:tr h="996878">
                <a:tc>
                  <a:txBody>
                    <a:bodyPr/>
                    <a:lstStyle/>
                    <a:p>
                      <a:r>
                        <a:rPr lang="en-IN" sz="4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8317"/>
                  </a:ext>
                </a:extLst>
              </a:tr>
              <a:tr h="996878">
                <a:tc>
                  <a:txBody>
                    <a:bodyPr/>
                    <a:lstStyle/>
                    <a:p>
                      <a:r>
                        <a:rPr lang="en-IN" sz="4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604690"/>
                  </a:ext>
                </a:extLst>
              </a:tr>
              <a:tr h="996878">
                <a:tc>
                  <a:txBody>
                    <a:bodyPr/>
                    <a:lstStyle/>
                    <a:p>
                      <a:r>
                        <a:rPr lang="en-IN" sz="4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39914"/>
                  </a:ext>
                </a:extLst>
              </a:tr>
              <a:tr h="996878">
                <a:tc>
                  <a:txBody>
                    <a:bodyPr/>
                    <a:lstStyle/>
                    <a:p>
                      <a:r>
                        <a:rPr lang="en-IN" sz="4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389912"/>
                  </a:ext>
                </a:extLst>
              </a:tr>
              <a:tr h="996878">
                <a:tc>
                  <a:txBody>
                    <a:bodyPr/>
                    <a:lstStyle/>
                    <a:p>
                      <a:r>
                        <a:rPr lang="en-IN" sz="4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377537"/>
                  </a:ext>
                </a:extLst>
              </a:tr>
              <a:tr h="996878">
                <a:tc>
                  <a:txBody>
                    <a:bodyPr/>
                    <a:lstStyle/>
                    <a:p>
                      <a:r>
                        <a:rPr lang="en-IN" sz="48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8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25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93771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D52B5-3112-48AF-89E4-A2B10BF9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and Decimal: Intuitive Mapping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36E7F-BF1E-4240-878B-43FC70E5B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Binary is base-2, decimal is base-10</a:t>
            </a:r>
          </a:p>
          <a:p>
            <a:pPr lvl="1"/>
            <a:r>
              <a:rPr lang="en-US" dirty="0"/>
              <a:t>Decimal (Base-10). Each position is a multiplier of 10. Example broken down explicitly: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decimal 123 = 1×10² + 2×10¹ + 3×10⁰</a:t>
            </a:r>
          </a:p>
          <a:p>
            <a:pPr lvl="1"/>
            <a:r>
              <a:rPr lang="en-US" dirty="0"/>
              <a:t>Binary (Base-2) Same idea, different base. Each position is a multiplier of 2. Example: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binary 101 = 1×2² + 0×2¹ + 1×2⁰ = 5 in decimal</a:t>
            </a:r>
          </a:p>
          <a:p>
            <a:r>
              <a:rPr lang="en-US" dirty="0"/>
              <a:t>Position determines value</a:t>
            </a:r>
          </a:p>
          <a:p>
            <a:r>
              <a:rPr lang="en-US" dirty="0"/>
              <a:t>Same idea, different base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Intuition:</a:t>
            </a:r>
            <a:br>
              <a:rPr lang="en-US" dirty="0"/>
            </a:br>
            <a:r>
              <a:rPr lang="en-US" dirty="0"/>
              <a:t>Binary numbers count the same way — they just run out of symbols faster.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30837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DCBAA-6220-4EDC-A332-DC4883F5F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and Decimal for </a:t>
            </a:r>
            <a:r>
              <a:rPr lang="en-US" dirty="0" err="1"/>
              <a:t>rationals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26EB2A-51C6-4F83-BC79-452D8C634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695" y="3848100"/>
            <a:ext cx="9151755" cy="890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52770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4193724" y="1054262"/>
            <a:ext cx="15996688" cy="3145084"/>
            <a:chOff x="1861995" y="2344449"/>
            <a:chExt cx="7998344" cy="1572542"/>
          </a:xfrm>
        </p:grpSpPr>
        <p:sp>
          <p:nvSpPr>
            <p:cNvPr id="7" name="Rectangle 6"/>
            <p:cNvSpPr/>
            <p:nvPr/>
          </p:nvSpPr>
          <p:spPr>
            <a:xfrm>
              <a:off x="1861995" y="2344449"/>
              <a:ext cx="7998344" cy="692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8400" dirty="0">
                  <a:solidFill>
                    <a:schemeClr val="tx1"/>
                  </a:solidFill>
                  <a:latin typeface="Georgia" panose="02040502050405020303" pitchFamily="18" charset="0"/>
                </a:rPr>
                <a:t>Why Study Data Representation?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7E5D94-0023-44CF-A914-3EB65B6FE8DE}"/>
                </a:ext>
              </a:extLst>
            </p:cNvPr>
            <p:cNvSpPr txBox="1"/>
            <p:nvPr/>
          </p:nvSpPr>
          <p:spPr>
            <a:xfrm>
              <a:off x="2603328" y="3286049"/>
              <a:ext cx="6515609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sz="7600" dirty="0">
                <a:solidFill>
                  <a:schemeClr val="bg1"/>
                </a:solidFill>
                <a:latin typeface="Georgia Pro Light" panose="02040302050405020303" pitchFamily="18" charset="0"/>
              </a:endParaRPr>
            </a:p>
          </p:txBody>
        </p:sp>
      </p:grpSp>
      <p:pic>
        <p:nvPicPr>
          <p:cNvPr id="3074" name="Picture 2" descr="Patriot missile gulf hi-res stock photography and images - Alamy">
            <a:extLst>
              <a:ext uri="{FF2B5EF4-FFF2-40B4-BE49-F238E27FC236}">
                <a16:creationId xmlns:a16="http://schemas.microsoft.com/office/drawing/2014/main" id="{9D66470E-A414-4419-98A8-D4795796F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217" y="2937462"/>
            <a:ext cx="93154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5B25C5-34AF-4DE5-825E-29E6B0A92D45}"/>
              </a:ext>
            </a:extLst>
          </p:cNvPr>
          <p:cNvSpPr txBox="1"/>
          <p:nvPr/>
        </p:nvSpPr>
        <p:spPr>
          <a:xfrm>
            <a:off x="1569217" y="10021444"/>
            <a:ext cx="931544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tx1"/>
                </a:solidFill>
              </a:rPr>
              <a:t>Patriot Missile Defence System Failure, </a:t>
            </a:r>
            <a:br>
              <a:rPr lang="en-IN" sz="4400" dirty="0">
                <a:solidFill>
                  <a:schemeClr val="tx1"/>
                </a:solidFill>
              </a:rPr>
            </a:br>
            <a:r>
              <a:rPr lang="en-IN" sz="4400" dirty="0">
                <a:solidFill>
                  <a:schemeClr val="tx1"/>
                </a:solidFill>
              </a:rPr>
              <a:t>Gulf War 1991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C19816-819C-4EA8-93D7-5134A818C569}"/>
              </a:ext>
            </a:extLst>
          </p:cNvPr>
          <p:cNvSpPr txBox="1"/>
          <p:nvPr/>
        </p:nvSpPr>
        <p:spPr>
          <a:xfrm>
            <a:off x="11799498" y="3021248"/>
            <a:ext cx="12584502" cy="8248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</a:rPr>
              <a:t>The system used a 24-bit fixed-point register to store time in tenths of a second and then convert it to seconds. 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</a:rPr>
              <a:t>The value 1/10, which has a non-terminating binary representation, was chopped at 24 bits, introducing a small error. 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</a:rPr>
              <a:t>Error of 0.34 s in every 100 hours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</a:rPr>
              <a:t>Caused failure to intercept Scud missile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</a:rPr>
              <a:t>28 soldiers killed in Dhahran, Saudi Arabia</a:t>
            </a:r>
          </a:p>
        </p:txBody>
      </p:sp>
    </p:spTree>
    <p:extLst>
      <p:ext uri="{BB962C8B-B14F-4D97-AF65-F5344CB8AC3E}">
        <p14:creationId xmlns:p14="http://schemas.microsoft.com/office/powerpoint/2010/main" val="2241431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690E7-3FAD-4D46-A320-9D739ABDE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55600"/>
            <a:ext cx="20828000" cy="1797050"/>
          </a:xfrm>
        </p:spPr>
        <p:txBody>
          <a:bodyPr/>
          <a:lstStyle/>
          <a:p>
            <a:r>
              <a:rPr lang="en-IN" dirty="0"/>
              <a:t>Why Only Two Symbols?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44725-CB16-46F1-AD84-289D93C73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2152650"/>
            <a:ext cx="22955250" cy="11207750"/>
          </a:xfrm>
        </p:spPr>
        <p:txBody>
          <a:bodyPr>
            <a:normAutofit/>
          </a:bodyPr>
          <a:lstStyle/>
          <a:p>
            <a:r>
              <a:rPr lang="en-IN" dirty="0"/>
              <a:t>Physical systems are imperfect: voltages fluctuates, signals degrade, noise is unavoidable. Using only two symbols allows us to represent information robustly.</a:t>
            </a:r>
          </a:p>
          <a:p>
            <a:r>
              <a:rPr lang="en-IN" dirty="0"/>
              <a:t>Binary Representation: Two well-separated voltage levels </a:t>
            </a:r>
            <a:br>
              <a:rPr lang="en-IN" dirty="0"/>
            </a:br>
            <a:r>
              <a:rPr lang="en-IN" dirty="0"/>
              <a:t>LOW voltage → 0 HIGH voltage → 1</a:t>
            </a:r>
          </a:p>
          <a:p>
            <a:pPr marL="1080000" lvl="1">
              <a:spcBef>
                <a:spcPts val="600"/>
              </a:spcBef>
            </a:pPr>
            <a:r>
              <a:rPr lang="en-IN" dirty="0"/>
              <a:t>Large separation ⇒ high noise margin: Small fluctuations do not change the interpreted value</a:t>
            </a:r>
          </a:p>
          <a:p>
            <a:pPr lvl="1"/>
            <a:r>
              <a:rPr lang="en-IN" dirty="0"/>
              <a:t>Enables reliable storage, transmission, </a:t>
            </a:r>
            <a:r>
              <a:rPr lang="en-IN" sz="3900" dirty="0"/>
              <a:t>and</a:t>
            </a:r>
            <a:r>
              <a:rPr lang="en-IN" dirty="0"/>
              <a:t> computation</a:t>
            </a:r>
          </a:p>
          <a:p>
            <a:r>
              <a:rPr lang="en-IN" dirty="0"/>
              <a:t>Multi-level Representation (More than two symbols): Multiple closely spaced voltage levels. Small fluctuations can shift a signal into a neighbouring level cause misinterpretation. Requires precise hardware and tight control. More susceptible to errors.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Key Insight:</a:t>
            </a:r>
            <a:br>
              <a:rPr lang="en-IN" dirty="0"/>
            </a:br>
            <a:r>
              <a:rPr lang="en-IN" dirty="0"/>
              <a:t>Binary is chosen not for expressiveness, but for reliability.</a:t>
            </a:r>
          </a:p>
        </p:txBody>
      </p:sp>
    </p:spTree>
    <p:extLst>
      <p:ext uri="{BB962C8B-B14F-4D97-AF65-F5344CB8AC3E}">
        <p14:creationId xmlns:p14="http://schemas.microsoft.com/office/powerpoint/2010/main" val="312114586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Processor?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 Processor is the “mind” of a computer. </a:t>
            </a:r>
            <a:r>
              <a:rPr dirty="0"/>
              <a:t>A processor is the core component of a computer system that:</a:t>
            </a: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</a:t>
            </a:r>
            <a:r>
              <a:rPr lang="en-IN" dirty="0"/>
              <a:t>E</a:t>
            </a:r>
            <a:r>
              <a:rPr dirty="0" err="1"/>
              <a:t>xecutes</a:t>
            </a:r>
            <a:r>
              <a:rPr dirty="0"/>
              <a:t> </a:t>
            </a:r>
            <a:r>
              <a:rPr lang="en-IN" dirty="0"/>
              <a:t>"basic” </a:t>
            </a:r>
            <a:r>
              <a:rPr dirty="0"/>
              <a:t>instructions</a:t>
            </a: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</a:t>
            </a:r>
            <a:r>
              <a:rPr lang="en-IN" dirty="0"/>
              <a:t>O</a:t>
            </a:r>
            <a:r>
              <a:rPr dirty="0" err="1"/>
              <a:t>perates</a:t>
            </a:r>
            <a:r>
              <a:rPr dirty="0"/>
              <a:t> on data</a:t>
            </a: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</a:t>
            </a:r>
            <a:r>
              <a:rPr lang="en-IN" dirty="0"/>
              <a:t>C</a:t>
            </a:r>
            <a:r>
              <a:rPr dirty="0" err="1"/>
              <a:t>ontrols</a:t>
            </a:r>
            <a:r>
              <a:rPr dirty="0"/>
              <a:t> the flow of computation</a:t>
            </a:r>
            <a:r>
              <a:rPr lang="en-IN" dirty="0"/>
              <a:t> – to execute complex instruction using a set of basic instructions.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0868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Processor?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4400550"/>
            <a:ext cx="20828000" cy="8959850"/>
          </a:xfrm>
        </p:spPr>
        <p:txBody>
          <a:bodyPr>
            <a:normAutofit/>
          </a:bodyPr>
          <a:lstStyle/>
          <a:p>
            <a:r>
              <a:rPr dirty="0"/>
              <a:t>At a high level, a processor consists of: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dirty="0"/>
              <a:t> </a:t>
            </a:r>
            <a:r>
              <a:rPr lang="en-IN" dirty="0"/>
              <a:t>Circuit elements to compute some basic set of operations, and </a:t>
            </a:r>
            <a:endParaRPr dirty="0"/>
          </a:p>
          <a:p>
            <a:pPr lvl="1">
              <a:buFont typeface="Wingdings" panose="05000000000000000000" pitchFamily="2" charset="2"/>
              <a:buChar char="q"/>
            </a:pPr>
            <a:r>
              <a:rPr dirty="0"/>
              <a:t> Registers (fast local </a:t>
            </a:r>
            <a:r>
              <a:rPr lang="en-IN" dirty="0"/>
              <a:t>temporary memory</a:t>
            </a:r>
            <a:r>
              <a:rPr dirty="0"/>
              <a:t>)</a:t>
            </a:r>
            <a:r>
              <a:rPr lang="en-IN" dirty="0"/>
              <a:t>  - not to be confused with the main memory.</a:t>
            </a:r>
            <a:endParaRPr dirty="0"/>
          </a:p>
          <a:p>
            <a:pPr lvl="1">
              <a:buFont typeface="Wingdings" panose="05000000000000000000" pitchFamily="2" charset="2"/>
              <a:buChar char="q"/>
            </a:pPr>
            <a:r>
              <a:rPr dirty="0"/>
              <a:t> Clock (timing mechanism)</a:t>
            </a:r>
          </a:p>
          <a:p>
            <a:r>
              <a:rPr dirty="0"/>
              <a:t>The processor interacts with main memory, but does not store programs permanently.</a:t>
            </a:r>
          </a:p>
          <a:p>
            <a:r>
              <a:rPr dirty="0"/>
              <a:t>Analogy: The processor is the “mind” of the system — it executes actions, but relies on memory to remember.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a Processor Contain?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3848100"/>
            <a:ext cx="20828000" cy="8369300"/>
          </a:xfrm>
        </p:spPr>
        <p:txBody>
          <a:bodyPr/>
          <a:lstStyle/>
          <a:p>
            <a:r>
              <a:rPr dirty="0"/>
              <a:t>Control Unit (CU): decides which operation to perform and when</a:t>
            </a:r>
            <a:r>
              <a:rPr lang="en-IN" dirty="0"/>
              <a:t>.</a:t>
            </a:r>
            <a:endParaRPr dirty="0"/>
          </a:p>
          <a:p>
            <a:r>
              <a:rPr dirty="0"/>
              <a:t>Arithmetic &amp; Logic Unit (ALU): performs arithmetic and logical operations</a:t>
            </a:r>
          </a:p>
          <a:p>
            <a:r>
              <a:rPr dirty="0"/>
              <a:t>Registers: small, fast storage inside the processor</a:t>
            </a:r>
          </a:p>
          <a:p>
            <a:r>
              <a:rPr dirty="0"/>
              <a:t>Clock: provides a global notion of time</a:t>
            </a:r>
          </a:p>
          <a:p>
            <a:r>
              <a:rPr dirty="0"/>
              <a:t>Interfaces to Memory and I/O</a:t>
            </a:r>
            <a:r>
              <a:rPr lang="en-IN" dirty="0"/>
              <a:t>: Provides connections to “memory” and “I/O”.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Terms: Clock and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5467350"/>
            <a:ext cx="20828000" cy="67500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Clock:</a:t>
            </a:r>
            <a:r>
              <a:rPr lang="en-IN" dirty="0"/>
              <a:t> </a:t>
            </a:r>
            <a:r>
              <a:rPr dirty="0"/>
              <a:t>Generates periodic pulses</a:t>
            </a:r>
            <a:r>
              <a:rPr lang="en-IN" dirty="0"/>
              <a:t>. </a:t>
            </a:r>
            <a:r>
              <a:rPr dirty="0"/>
              <a:t>Each pulse is a clock cycle</a:t>
            </a:r>
            <a:r>
              <a:rPr lang="en-IN" dirty="0"/>
              <a:t>. This is the smallest unit of a time.</a:t>
            </a:r>
            <a:endParaRPr dirty="0"/>
          </a:p>
          <a:p>
            <a:pPr marL="0" indent="0">
              <a:buNone/>
            </a:pPr>
            <a:r>
              <a:rPr dirty="0"/>
              <a:t>Clock Speed:</a:t>
            </a:r>
            <a:r>
              <a:rPr lang="en-IN" dirty="0"/>
              <a:t> </a:t>
            </a:r>
            <a:r>
              <a:rPr dirty="0"/>
              <a:t>Number of cycles per second (e.g., GHz)</a:t>
            </a:r>
            <a:r>
              <a:rPr lang="en-IN" dirty="0"/>
              <a:t>.</a:t>
            </a:r>
            <a:endParaRPr dirty="0"/>
          </a:p>
          <a:p>
            <a:pPr marL="0" indent="0">
              <a:buNone/>
            </a:pPr>
            <a:r>
              <a:rPr dirty="0"/>
              <a:t>Instruction: A single operation executed by the processor</a:t>
            </a:r>
            <a:r>
              <a:rPr lang="en-IN" dirty="0"/>
              <a:t>.</a:t>
            </a:r>
            <a:endParaRPr dirty="0"/>
          </a:p>
          <a:p>
            <a:pPr marL="0" indent="0">
              <a:buNone/>
            </a:pPr>
            <a:r>
              <a:rPr dirty="0"/>
              <a:t>Instruction Set:</a:t>
            </a:r>
            <a:r>
              <a:rPr lang="en-IN" dirty="0"/>
              <a:t> </a:t>
            </a:r>
            <a:r>
              <a:rPr dirty="0"/>
              <a:t>Collection of all instructions the processor understands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Program: A sequence of instructions from this instruction set.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 Set Architecture (ISA)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4933950"/>
            <a:ext cx="20828000" cy="8178800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The Instruction Set Architecture (ISA) defines:</a:t>
            </a:r>
          </a:p>
          <a:p>
            <a:r>
              <a:rPr lang="en-IN" dirty="0"/>
              <a:t>a set of “basic” </a:t>
            </a:r>
            <a:r>
              <a:rPr dirty="0"/>
              <a:t>instructions supported by the processor</a:t>
            </a:r>
          </a:p>
          <a:p>
            <a:r>
              <a:rPr dirty="0"/>
              <a:t>the behavior of each instruction</a:t>
            </a:r>
          </a:p>
          <a:p>
            <a:r>
              <a:rPr dirty="0"/>
              <a:t>how data is represented and accessed</a:t>
            </a:r>
          </a:p>
          <a:p>
            <a:r>
              <a:rPr dirty="0"/>
              <a:t>how memory and computation interact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Key idea: The ISA is a contract between software and hardware.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000" y="355600"/>
            <a:ext cx="20828000" cy="3492500"/>
          </a:xfrm>
        </p:spPr>
        <p:txBody>
          <a:bodyPr/>
          <a:lstStyle/>
          <a:p>
            <a:r>
              <a:t>Example: Assembly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1350" y="4953000"/>
            <a:ext cx="20828000" cy="8521700"/>
          </a:xfrm>
        </p:spPr>
        <p:txBody>
          <a:bodyPr/>
          <a:lstStyle/>
          <a:p>
            <a:r>
              <a:rPr dirty="0"/>
              <a:t>LOAD  R1, A      ; load value of A into register R1</a:t>
            </a:r>
          </a:p>
          <a:p>
            <a:r>
              <a:rPr dirty="0"/>
              <a:t>LOAD  R2, B      ; load value of B into register R2</a:t>
            </a:r>
          </a:p>
          <a:p>
            <a:r>
              <a:rPr dirty="0"/>
              <a:t>ADD   R3, R1, R2 ; R3 = R1 + R2</a:t>
            </a:r>
          </a:p>
          <a:p>
            <a:r>
              <a:rPr dirty="0"/>
              <a:t>STORE R3, C      ; store result into C</a:t>
            </a:r>
          </a:p>
          <a:p>
            <a:endParaRPr dirty="0"/>
          </a:p>
          <a:p>
            <a:r>
              <a:rPr dirty="0"/>
              <a:t>Complex programs are built from simple instructions.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Long Does an Instruction Take?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0" y="3848100"/>
            <a:ext cx="20828000" cy="9378950"/>
          </a:xfrm>
        </p:spPr>
        <p:txBody>
          <a:bodyPr/>
          <a:lstStyle/>
          <a:p>
            <a:r>
              <a:rPr dirty="0"/>
              <a:t>Instruction execution involves:</a:t>
            </a:r>
            <a:endParaRPr lang="en-IN" dirty="0"/>
          </a:p>
          <a:p>
            <a:pPr lvl="1"/>
            <a:r>
              <a:rPr dirty="0"/>
              <a:t>Fetch</a:t>
            </a:r>
            <a:r>
              <a:rPr lang="en-IN" dirty="0"/>
              <a:t> (take input)</a:t>
            </a:r>
          </a:p>
          <a:p>
            <a:pPr lvl="1"/>
            <a:r>
              <a:rPr dirty="0"/>
              <a:t>Decode</a:t>
            </a:r>
            <a:endParaRPr lang="en-IN" dirty="0"/>
          </a:p>
          <a:p>
            <a:pPr lvl="1"/>
            <a:r>
              <a:rPr dirty="0"/>
              <a:t>Execute</a:t>
            </a:r>
            <a:endParaRPr lang="en-IN" dirty="0"/>
          </a:p>
          <a:p>
            <a:pPr lvl="1"/>
            <a:r>
              <a:rPr dirty="0"/>
              <a:t>Memory access (if needed)</a:t>
            </a:r>
            <a:endParaRPr lang="en-IN" dirty="0"/>
          </a:p>
          <a:p>
            <a:pPr lvl="1"/>
            <a:r>
              <a:rPr dirty="0"/>
              <a:t>Write back</a:t>
            </a:r>
            <a:r>
              <a:rPr lang="en-IN" dirty="0"/>
              <a:t> (output)</a:t>
            </a:r>
            <a:endParaRPr dirty="0"/>
          </a:p>
          <a:p>
            <a:r>
              <a:rPr dirty="0"/>
              <a:t>These steps are synchronized using the clock.</a:t>
            </a:r>
          </a:p>
          <a:p>
            <a:r>
              <a:rPr dirty="0"/>
              <a:t>An instruction may take multiple clock cycles.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0753D-CDD7-4D98-8F01-D850AFC1A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Washing Clothes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A2FBB5-8D23-447E-9438-9A9F4C0C0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705" y="4229100"/>
            <a:ext cx="16165077" cy="853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5263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79C24-6A0F-4CFC-8CAF-CE8D184B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Faster way to do things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42276-5DFB-41C8-A33F-FB4BB5F6E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881" y="5311583"/>
            <a:ext cx="13638311" cy="714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834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Sequential Execution (Without Pipelining)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400550"/>
            <a:ext cx="23393400" cy="9112250"/>
          </a:xfrm>
        </p:spPr>
        <p:txBody>
          <a:bodyPr/>
          <a:lstStyle/>
          <a:p>
            <a:r>
              <a:rPr dirty="0"/>
              <a:t>Instruction 1: | F | D | E | M | W |</a:t>
            </a:r>
          </a:p>
          <a:p>
            <a:r>
              <a:rPr dirty="0"/>
              <a:t>Instruction 2:              </a:t>
            </a:r>
            <a:r>
              <a:rPr lang="en-IN" dirty="0"/>
              <a:t>                 </a:t>
            </a:r>
            <a:r>
              <a:rPr dirty="0"/>
              <a:t> | F | D | E | M | W |</a:t>
            </a:r>
          </a:p>
          <a:p>
            <a:r>
              <a:rPr dirty="0"/>
              <a:t>Instruction 3:                              </a:t>
            </a:r>
            <a:r>
              <a:rPr lang="en-IN" dirty="0"/>
              <a:t>                                 </a:t>
            </a:r>
            <a:r>
              <a:rPr dirty="0"/>
              <a:t> | F | D | E | M | W |</a:t>
            </a:r>
          </a:p>
          <a:p>
            <a:r>
              <a:rPr dirty="0"/>
              <a:t>Instruction 4:                                            </a:t>
            </a:r>
            <a:r>
              <a:rPr lang="en-IN" dirty="0"/>
              <a:t>                                                  </a:t>
            </a:r>
            <a:r>
              <a:rPr dirty="0"/>
              <a:t>   | F | D | E | M | W |</a:t>
            </a:r>
          </a:p>
          <a:p>
            <a:endParaRPr dirty="0"/>
          </a:p>
          <a:p>
            <a:pPr marL="0" indent="0">
              <a:buNone/>
            </a:pPr>
            <a:r>
              <a:rPr lang="en-IN" dirty="0"/>
              <a:t>							</a:t>
            </a:r>
            <a:r>
              <a:rPr dirty="0"/>
              <a:t>Total time = 4 × 5 = 20 cycles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of Pipelining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3028950"/>
            <a:ext cx="20828000" cy="9188450"/>
          </a:xfrm>
        </p:spPr>
        <p:txBody>
          <a:bodyPr/>
          <a:lstStyle/>
          <a:p>
            <a:r>
              <a:rPr dirty="0"/>
              <a:t>Pipelining overlaps instruction execution:</a:t>
            </a:r>
            <a:endParaRPr lang="en-IN" dirty="0"/>
          </a:p>
          <a:p>
            <a:pPr lvl="1"/>
            <a:r>
              <a:rPr dirty="0"/>
              <a:t>While one instruction executes</a:t>
            </a:r>
            <a:endParaRPr lang="en-IN" dirty="0"/>
          </a:p>
          <a:p>
            <a:pPr lvl="1"/>
            <a:r>
              <a:rPr dirty="0"/>
              <a:t>Another can be decoded</a:t>
            </a:r>
            <a:endParaRPr lang="en-IN" dirty="0"/>
          </a:p>
          <a:p>
            <a:pPr lvl="1"/>
            <a:r>
              <a:rPr dirty="0"/>
              <a:t>Another can be fetched</a:t>
            </a:r>
            <a:r>
              <a:rPr lang="en-IN" dirty="0"/>
              <a:t> and so on…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/>
              <a:t>Key idea: Pipelining improves throughput, not individual instruction latency.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Pipelined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3676650"/>
            <a:ext cx="20828000" cy="9182100"/>
          </a:xfrm>
        </p:spPr>
        <p:txBody>
          <a:bodyPr/>
          <a:lstStyle/>
          <a:p>
            <a:r>
              <a:rPr dirty="0"/>
              <a:t>Cycle:      1   2   3   4   5   6   7   8</a:t>
            </a:r>
          </a:p>
          <a:p>
            <a:r>
              <a:rPr dirty="0" err="1"/>
              <a:t>Instr</a:t>
            </a:r>
            <a:r>
              <a:rPr dirty="0"/>
              <a:t> 1:    F</a:t>
            </a:r>
            <a:r>
              <a:rPr lang="en-IN" dirty="0"/>
              <a:t> |</a:t>
            </a:r>
            <a:r>
              <a:rPr dirty="0"/>
              <a:t> D </a:t>
            </a:r>
            <a:r>
              <a:rPr lang="en-IN" dirty="0"/>
              <a:t>|</a:t>
            </a:r>
            <a:r>
              <a:rPr dirty="0"/>
              <a:t> E </a:t>
            </a:r>
            <a:r>
              <a:rPr lang="en-IN" dirty="0"/>
              <a:t>|</a:t>
            </a:r>
            <a:r>
              <a:rPr dirty="0"/>
              <a:t> M </a:t>
            </a:r>
            <a:r>
              <a:rPr lang="en-IN" dirty="0"/>
              <a:t>|</a:t>
            </a:r>
            <a:r>
              <a:rPr dirty="0"/>
              <a:t> W</a:t>
            </a:r>
          </a:p>
          <a:p>
            <a:r>
              <a:rPr dirty="0" err="1"/>
              <a:t>Instr</a:t>
            </a:r>
            <a:r>
              <a:rPr dirty="0"/>
              <a:t> 2:        </a:t>
            </a:r>
            <a:r>
              <a:rPr lang="en-IN" dirty="0"/>
              <a:t> </a:t>
            </a:r>
            <a:r>
              <a:rPr dirty="0"/>
              <a:t>F</a:t>
            </a:r>
            <a:r>
              <a:rPr lang="en-IN" dirty="0"/>
              <a:t> |</a:t>
            </a:r>
            <a:r>
              <a:rPr dirty="0"/>
              <a:t> D </a:t>
            </a:r>
            <a:r>
              <a:rPr lang="en-IN" dirty="0"/>
              <a:t>|</a:t>
            </a:r>
            <a:r>
              <a:rPr dirty="0"/>
              <a:t> E </a:t>
            </a:r>
            <a:r>
              <a:rPr lang="en-IN" dirty="0"/>
              <a:t>|</a:t>
            </a:r>
            <a:r>
              <a:rPr dirty="0"/>
              <a:t> M </a:t>
            </a:r>
            <a:r>
              <a:rPr lang="en-IN" dirty="0"/>
              <a:t>|</a:t>
            </a:r>
            <a:r>
              <a:rPr dirty="0"/>
              <a:t> W</a:t>
            </a:r>
          </a:p>
          <a:p>
            <a:r>
              <a:rPr dirty="0" err="1"/>
              <a:t>Instr</a:t>
            </a:r>
            <a:r>
              <a:rPr dirty="0"/>
              <a:t> 3:            </a:t>
            </a:r>
            <a:r>
              <a:rPr lang="en-IN" dirty="0"/>
              <a:t>	</a:t>
            </a:r>
            <a:r>
              <a:rPr lang="pl-PL" dirty="0"/>
              <a:t>F | D | E | M | W</a:t>
            </a:r>
          </a:p>
          <a:p>
            <a:r>
              <a:rPr dirty="0" err="1"/>
              <a:t>Instr</a:t>
            </a:r>
            <a:r>
              <a:rPr dirty="0"/>
              <a:t> 4:                </a:t>
            </a:r>
            <a:r>
              <a:rPr lang="en-IN" dirty="0"/>
              <a:t>	  </a:t>
            </a:r>
            <a:r>
              <a:rPr lang="pl-PL" dirty="0"/>
              <a:t>F | D | E | M | W</a:t>
            </a:r>
          </a:p>
          <a:p>
            <a:endParaRPr dirty="0"/>
          </a:p>
          <a:p>
            <a:r>
              <a:rPr dirty="0"/>
              <a:t>Same instructions, same ISA — higher throughput.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Pipelining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4095750"/>
            <a:ext cx="20828000" cy="8121650"/>
          </a:xfrm>
        </p:spPr>
        <p:txBody>
          <a:bodyPr/>
          <a:lstStyle/>
          <a:p>
            <a:r>
              <a:rPr dirty="0"/>
              <a:t>Better utilization of hardware</a:t>
            </a:r>
          </a:p>
          <a:p>
            <a:r>
              <a:rPr dirty="0"/>
              <a:t>Higher instruction throughput</a:t>
            </a:r>
          </a:p>
          <a:p>
            <a:r>
              <a:rPr dirty="0"/>
              <a:t>Fundamental performance technique</a:t>
            </a:r>
          </a:p>
          <a:p>
            <a:endParaRPr dirty="0"/>
          </a:p>
          <a:p>
            <a:r>
              <a:rPr dirty="0"/>
              <a:t>But pipelining introduces dependencies and hazards</a:t>
            </a:r>
            <a:r>
              <a:rPr lang="en-IN" dirty="0"/>
              <a:t>.</a:t>
            </a:r>
            <a:endParaRPr dirty="0"/>
          </a:p>
          <a:p>
            <a:endParaRPr dirty="0"/>
          </a:p>
          <a:p>
            <a:r>
              <a:rPr dirty="0"/>
              <a:t>Transition: To go faster, we overlap work — but overlap introduces complexity.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5676390" y="1054262"/>
            <a:ext cx="13031218" cy="1657218"/>
            <a:chOff x="2603328" y="2344449"/>
            <a:chExt cx="6515609" cy="1572542"/>
          </a:xfrm>
        </p:grpSpPr>
        <p:sp>
          <p:nvSpPr>
            <p:cNvPr id="7" name="Rectangle 6"/>
            <p:cNvSpPr/>
            <p:nvPr/>
          </p:nvSpPr>
          <p:spPr>
            <a:xfrm>
              <a:off x="4502970" y="2344449"/>
              <a:ext cx="2716449" cy="13142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8400" dirty="0">
                  <a:solidFill>
                    <a:schemeClr val="tx1"/>
                  </a:solidFill>
                  <a:latin typeface="Georgia" panose="02040502050405020303" pitchFamily="18" charset="0"/>
                </a:rPr>
                <a:t>What I do?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7E5D94-0023-44CF-A914-3EB65B6FE8DE}"/>
                </a:ext>
              </a:extLst>
            </p:cNvPr>
            <p:cNvSpPr txBox="1"/>
            <p:nvPr/>
          </p:nvSpPr>
          <p:spPr>
            <a:xfrm>
              <a:off x="2603328" y="3286049"/>
              <a:ext cx="6515609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sz="7600" dirty="0">
                <a:solidFill>
                  <a:schemeClr val="bg1"/>
                </a:solidFill>
                <a:latin typeface="Georgia Pro Light" panose="02040302050405020303" pitchFamily="18" charset="0"/>
              </a:endParaRPr>
            </a:p>
          </p:txBody>
        </p:sp>
      </p:grpSp>
      <p:pic>
        <p:nvPicPr>
          <p:cNvPr id="3074" name="Picture 2" descr="Patriot missile gulf hi-res stock photography and images - Alamy">
            <a:extLst>
              <a:ext uri="{FF2B5EF4-FFF2-40B4-BE49-F238E27FC236}">
                <a16:creationId xmlns:a16="http://schemas.microsoft.com/office/drawing/2014/main" id="{9D66470E-A414-4419-98A8-D4795796F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67" y="4023312"/>
            <a:ext cx="93154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5B25C5-34AF-4DE5-825E-29E6B0A92D45}"/>
              </a:ext>
            </a:extLst>
          </p:cNvPr>
          <p:cNvSpPr txBox="1"/>
          <p:nvPr/>
        </p:nvSpPr>
        <p:spPr>
          <a:xfrm>
            <a:off x="578617" y="11131315"/>
            <a:ext cx="931545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tx1"/>
                </a:solidFill>
              </a:rPr>
              <a:t>Patriot Missile Defence System Failure,  Gulf War 1991. Many more such failures in history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C19816-819C-4EA8-93D7-5134A818C569}"/>
              </a:ext>
            </a:extLst>
          </p:cNvPr>
          <p:cNvSpPr txBox="1"/>
          <p:nvPr/>
        </p:nvSpPr>
        <p:spPr>
          <a:xfrm>
            <a:off x="11382983" y="3254250"/>
            <a:ext cx="12867667" cy="5055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</a:rPr>
              <a:t>Use </a:t>
            </a:r>
            <a:r>
              <a:rPr lang="en-US" sz="4000" dirty="0" err="1">
                <a:solidFill>
                  <a:schemeClr val="tx1"/>
                </a:solidFill>
              </a:rPr>
              <a:t>maths</a:t>
            </a:r>
            <a:r>
              <a:rPr lang="en-US" sz="4000" dirty="0">
                <a:solidFill>
                  <a:schemeClr val="tx1"/>
                </a:solidFill>
              </a:rPr>
              <a:t>/logic/game theory to prove system correctness and certify system.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</a:rPr>
              <a:t>Analyze all possible behaviors, rather than just rely on sampling and testing.</a:t>
            </a:r>
            <a:br>
              <a:rPr lang="en-US" sz="4000" dirty="0">
                <a:solidFill>
                  <a:schemeClr val="tx1"/>
                </a:solidFill>
              </a:rPr>
            </a:b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4000" dirty="0">
                <a:solidFill>
                  <a:schemeClr val="tx1"/>
                </a:solidFill>
              </a:rPr>
              <a:t>EXPENSIVE BUT SAFE -  USE CASE: SAFETY CRITICAL SYSTEMS.</a:t>
            </a:r>
          </a:p>
        </p:txBody>
      </p:sp>
    </p:spTree>
    <p:extLst>
      <p:ext uri="{BB962C8B-B14F-4D97-AF65-F5344CB8AC3E}">
        <p14:creationId xmlns:p14="http://schemas.microsoft.com/office/powerpoint/2010/main" val="14601047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169A4-6813-4E19-8E64-A6E0CBD16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614" y="4994102"/>
            <a:ext cx="20828000" cy="3492500"/>
          </a:xfrm>
        </p:spPr>
        <p:txBody>
          <a:bodyPr/>
          <a:lstStyle/>
          <a:p>
            <a:r>
              <a:rPr lang="en-IN" dirty="0"/>
              <a:t>Memory Organization</a:t>
            </a:r>
          </a:p>
        </p:txBody>
      </p:sp>
    </p:spTree>
    <p:extLst>
      <p:ext uri="{BB962C8B-B14F-4D97-AF65-F5344CB8AC3E}">
        <p14:creationId xmlns:p14="http://schemas.microsoft.com/office/powerpoint/2010/main" val="11005350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Hierarchy of Memories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Programs want memory that is fast, large, and cheap.</a:t>
            </a:r>
          </a:p>
          <a:p>
            <a:r>
              <a:rPr dirty="0"/>
              <a:t>In practice:</a:t>
            </a:r>
          </a:p>
          <a:p>
            <a:pPr lvl="1"/>
            <a:r>
              <a:rPr dirty="0"/>
              <a:t>Fast memory is small and expensive</a:t>
            </a:r>
          </a:p>
          <a:p>
            <a:pPr lvl="1"/>
            <a:r>
              <a:rPr dirty="0"/>
              <a:t>Large memory is slow and cheap</a:t>
            </a:r>
            <a:br>
              <a:rPr lang="en-IN" dirty="0"/>
            </a:br>
            <a:br>
              <a:rPr lang="en-IN" dirty="0"/>
            </a:br>
            <a:endParaRPr dirty="0"/>
          </a:p>
          <a:p>
            <a:r>
              <a:rPr dirty="0"/>
              <a:t>Key idea:</a:t>
            </a:r>
            <a:r>
              <a:rPr lang="en-IN" dirty="0"/>
              <a:t> </a:t>
            </a:r>
            <a:r>
              <a:rPr dirty="0"/>
              <a:t>No single memory technology can satisfy all requirements.</a:t>
            </a:r>
          </a:p>
        </p:txBody>
      </p:sp>
      <p:pic>
        <p:nvPicPr>
          <p:cNvPr id="1028" name="Picture 4" descr="Hierarchy of computer memory">
            <a:extLst>
              <a:ext uri="{FF2B5EF4-FFF2-40B4-BE49-F238E27FC236}">
                <a16:creationId xmlns:a16="http://schemas.microsoft.com/office/drawing/2014/main" id="{80A84668-E23D-4A81-AFD2-06C77D2C0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0371" y="4625788"/>
            <a:ext cx="9293629" cy="6304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Hierarchical Memory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4625788"/>
            <a:ext cx="20828000" cy="8242314"/>
          </a:xfrm>
        </p:spPr>
        <p:txBody>
          <a:bodyPr>
            <a:normAutofit lnSpcReduction="10000"/>
          </a:bodyPr>
          <a:lstStyle/>
          <a:p>
            <a:r>
              <a:rPr dirty="0"/>
              <a:t>Memory is organized as multiple levels:</a:t>
            </a:r>
            <a:r>
              <a:rPr lang="en-IN" dirty="0"/>
              <a:t> </a:t>
            </a:r>
          </a:p>
          <a:p>
            <a:pPr lvl="1"/>
            <a:r>
              <a:rPr dirty="0"/>
              <a:t>Registers</a:t>
            </a:r>
            <a:r>
              <a:rPr lang="en-IN" dirty="0"/>
              <a:t>: Very small memory used for storing data very temporarily.</a:t>
            </a:r>
          </a:p>
          <a:p>
            <a:pPr lvl="1"/>
            <a:r>
              <a:rPr dirty="0"/>
              <a:t>Cache</a:t>
            </a:r>
            <a:r>
              <a:rPr lang="en-IN" dirty="0"/>
              <a:t> : </a:t>
            </a:r>
            <a:r>
              <a:rPr lang="en-US" dirty="0"/>
              <a:t>A small, fast memory between processor and main memory. It stores copies of frequently accessed memory blocks.</a:t>
            </a:r>
            <a:endParaRPr dirty="0"/>
          </a:p>
          <a:p>
            <a:pPr lvl="1"/>
            <a:r>
              <a:rPr dirty="0"/>
              <a:t>Main Memory</a:t>
            </a:r>
            <a:r>
              <a:rPr lang="en-IN" dirty="0"/>
              <a:t>- RAM</a:t>
            </a:r>
            <a:endParaRPr dirty="0"/>
          </a:p>
          <a:p>
            <a:pPr lvl="1"/>
            <a:r>
              <a:rPr dirty="0"/>
              <a:t>Secondary Storage</a:t>
            </a:r>
            <a:r>
              <a:rPr lang="en-IN" dirty="0"/>
              <a:t>- Hard Disk, SSD.</a:t>
            </a:r>
            <a:endParaRPr dirty="0"/>
          </a:p>
          <a:p>
            <a:r>
              <a:rPr dirty="0"/>
              <a:t>As we go down the hierarchy:</a:t>
            </a:r>
            <a:r>
              <a:rPr lang="en-IN" dirty="0"/>
              <a:t> </a:t>
            </a:r>
            <a:br>
              <a:rPr lang="en-IN" dirty="0"/>
            </a:br>
            <a:br>
              <a:rPr lang="en-IN" dirty="0"/>
            </a:br>
            <a:r>
              <a:rPr dirty="0"/>
              <a:t>Speed decreases</a:t>
            </a:r>
            <a:r>
              <a:rPr lang="en-IN" dirty="0"/>
              <a:t>, </a:t>
            </a:r>
            <a:r>
              <a:rPr dirty="0"/>
              <a:t> Capacity increases</a:t>
            </a:r>
            <a:r>
              <a:rPr lang="en-IN" dirty="0"/>
              <a:t>, </a:t>
            </a:r>
            <a:r>
              <a:rPr dirty="0"/>
              <a:t>Cost per bit decreases</a:t>
            </a:r>
            <a:endParaRPr lang="en-IN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A61E79AD-AB58-402C-8D02-C403E4592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337174" y="26619121"/>
            <a:ext cx="282129" cy="53347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485900" indent="-5715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2286000" indent="-4572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3200400" indent="-4572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4114800" indent="-4572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5029200" indent="-457200" eaLnBrk="0" fontAlgn="base" hangingPunct="0">
              <a:spcBef>
                <a:spcPct val="1500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5943600" indent="-457200" eaLnBrk="0" fontAlgn="base" hangingPunct="0">
              <a:spcBef>
                <a:spcPct val="1500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6858000" indent="-457200" eaLnBrk="0" fontAlgn="base" hangingPunct="0">
              <a:spcBef>
                <a:spcPct val="1500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7772400" indent="-457200" eaLnBrk="0" fontAlgn="base" hangingPunct="0">
              <a:spcBef>
                <a:spcPct val="1500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1794AD8-E1D8-4F8B-A53A-F4B333C53630}" type="slidenum">
              <a:rPr lang="en-US" altLang="en-US" sz="2800"/>
              <a:pPr/>
              <a:t>40</a:t>
            </a:fld>
            <a:endParaRPr lang="en-US" altLang="en-US" sz="28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760AEE35-4941-4019-8415-05FF2AC50B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7999" y="3132667"/>
            <a:ext cx="23384933" cy="10430933"/>
          </a:xfrm>
          <a:noFill/>
        </p:spPr>
        <p:txBody>
          <a:bodyPr>
            <a:normAutofit/>
          </a:bodyPr>
          <a:lstStyle/>
          <a:p>
            <a:pPr>
              <a:spcBef>
                <a:spcPct val="40000"/>
              </a:spcBef>
            </a:pPr>
            <a:r>
              <a:rPr lang="en-US" altLang="en-US" sz="5200" dirty="0">
                <a:latin typeface="Arial" panose="020B0604020202020204" pitchFamily="34" charset="0"/>
              </a:rPr>
              <a:t>To access a particular piece of data, the </a:t>
            </a:r>
            <a:r>
              <a:rPr lang="en-US" altLang="en-US" sz="5200" dirty="0">
                <a:solidFill>
                  <a:srgbClr val="FF0000"/>
                </a:solidFill>
                <a:latin typeface="Arial" panose="020B0604020202020204" pitchFamily="34" charset="0"/>
              </a:rPr>
              <a:t>CPU first sends a request to its nearest and the fastest memory</a:t>
            </a:r>
            <a:r>
              <a:rPr lang="en-US" altLang="en-US" sz="5200" dirty="0">
                <a:latin typeface="Arial" panose="020B0604020202020204" pitchFamily="34" charset="0"/>
              </a:rPr>
              <a:t>, usually cache.  </a:t>
            </a:r>
          </a:p>
          <a:p>
            <a:pPr>
              <a:spcBef>
                <a:spcPct val="40000"/>
              </a:spcBef>
            </a:pPr>
            <a:r>
              <a:rPr lang="en-US" altLang="en-US" sz="5200" dirty="0">
                <a:latin typeface="Arial" panose="020B0604020202020204" pitchFamily="34" charset="0"/>
              </a:rPr>
              <a:t>If the data is </a:t>
            </a:r>
            <a:r>
              <a:rPr lang="en-US" altLang="en-US" sz="5200" dirty="0">
                <a:solidFill>
                  <a:srgbClr val="FF0000"/>
                </a:solidFill>
                <a:latin typeface="Arial" panose="020B0604020202020204" pitchFamily="34" charset="0"/>
              </a:rPr>
              <a:t>not in cache</a:t>
            </a:r>
            <a:r>
              <a:rPr lang="en-US" altLang="en-US" sz="5200" dirty="0">
                <a:latin typeface="Arial" panose="020B0604020202020204" pitchFamily="34" charset="0"/>
              </a:rPr>
              <a:t>, then main memory is queried. </a:t>
            </a:r>
          </a:p>
          <a:p>
            <a:pPr>
              <a:spcBef>
                <a:spcPct val="40000"/>
              </a:spcBef>
            </a:pPr>
            <a:r>
              <a:rPr lang="en-US" altLang="en-US" sz="5200" dirty="0">
                <a:latin typeface="Arial" panose="020B0604020202020204" pitchFamily="34" charset="0"/>
              </a:rPr>
              <a:t>If the data is not in main memory, then the request goes to disk or secondary memory.</a:t>
            </a:r>
          </a:p>
          <a:p>
            <a:pPr>
              <a:spcBef>
                <a:spcPct val="40000"/>
              </a:spcBef>
            </a:pPr>
            <a:r>
              <a:rPr lang="en-US" altLang="en-US" sz="5200" dirty="0">
                <a:latin typeface="Arial" panose="020B0604020202020204" pitchFamily="34" charset="0"/>
              </a:rPr>
              <a:t>Once the data is located, then the data, </a:t>
            </a:r>
            <a:r>
              <a:rPr lang="en-US" altLang="en-US" sz="5200" dirty="0">
                <a:solidFill>
                  <a:srgbClr val="FF0000"/>
                </a:solidFill>
                <a:latin typeface="Arial" panose="020B0604020202020204" pitchFamily="34" charset="0"/>
              </a:rPr>
              <a:t>and a number of its nearby data elements are fetched into cache memory</a:t>
            </a:r>
            <a:r>
              <a:rPr lang="en-US" altLang="en-US" sz="5200" dirty="0">
                <a:latin typeface="Arial" panose="020B0604020202020204" pitchFamily="34" charset="0"/>
              </a:rPr>
              <a:t>.</a:t>
            </a:r>
          </a:p>
          <a:p>
            <a:pPr marL="0" indent="0">
              <a:spcBef>
                <a:spcPct val="40000"/>
              </a:spcBef>
              <a:buNone/>
            </a:pPr>
            <a:br>
              <a:rPr lang="en-US" altLang="en-US" sz="5200" dirty="0">
                <a:latin typeface="Arial" panose="020B0604020202020204" pitchFamily="34" charset="0"/>
              </a:rPr>
            </a:br>
            <a:r>
              <a:rPr lang="en-US" sz="5400" dirty="0"/>
              <a:t>Key takeaway: Hierarchy gives the illusion of fast, large, and cheap memory.</a:t>
            </a:r>
          </a:p>
          <a:p>
            <a:pPr marL="0" indent="0">
              <a:spcBef>
                <a:spcPct val="40000"/>
              </a:spcBef>
              <a:buNone/>
            </a:pPr>
            <a:endParaRPr lang="en-US" altLang="en-US" sz="5200" dirty="0">
              <a:latin typeface="Arial" panose="020B0604020202020204" pitchFamily="34" charset="0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3C5E28A8-BCE4-4BC0-9B19-DC093876C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7733" y="428627"/>
            <a:ext cx="21979467" cy="1095374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dirty="0"/>
              <a:t>Hierarchical Memory Organization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 of Locality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Programs exhibit locality of reference.</a:t>
            </a:r>
          </a:p>
          <a:p>
            <a:pPr lvl="1"/>
            <a:r>
              <a:rPr dirty="0"/>
              <a:t>Temporal locality:</a:t>
            </a:r>
            <a:r>
              <a:rPr lang="en-IN" dirty="0"/>
              <a:t> </a:t>
            </a:r>
            <a:r>
              <a:rPr dirty="0"/>
              <a:t>Recently accessed data is likely to be reused.</a:t>
            </a:r>
          </a:p>
          <a:p>
            <a:pPr lvl="1"/>
            <a:r>
              <a:rPr lang="en-IN" dirty="0"/>
              <a:t>S</a:t>
            </a:r>
            <a:r>
              <a:rPr dirty="0" err="1"/>
              <a:t>patial</a:t>
            </a:r>
            <a:r>
              <a:rPr dirty="0"/>
              <a:t> locality:</a:t>
            </a:r>
            <a:r>
              <a:rPr lang="en-IN" dirty="0"/>
              <a:t> </a:t>
            </a:r>
            <a:r>
              <a:rPr dirty="0"/>
              <a:t>Nearby data is likely to be accessed.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dirty="0"/>
              <a:t>Key idea:</a:t>
            </a:r>
            <a:r>
              <a:rPr lang="en-IN" dirty="0"/>
              <a:t> </a:t>
            </a:r>
            <a:r>
              <a:rPr dirty="0"/>
              <a:t>Locality makes memory hierarchy effective.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Cache </a:t>
            </a:r>
            <a:r>
              <a:rPr lang="en-IN" dirty="0"/>
              <a:t>Hits and Miss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62000" lvl="1" indent="0">
              <a:buNone/>
            </a:pPr>
            <a:r>
              <a:rPr dirty="0"/>
              <a:t>Cache hit</a:t>
            </a:r>
            <a:r>
              <a:rPr lang="en-IN" dirty="0"/>
              <a:t>: What we require is available in cache.</a:t>
            </a:r>
          </a:p>
          <a:p>
            <a:pPr marL="762000" lvl="1" indent="0">
              <a:buNone/>
            </a:pPr>
            <a:r>
              <a:rPr dirty="0"/>
              <a:t>Cache miss</a:t>
            </a:r>
            <a:r>
              <a:rPr lang="en-IN" dirty="0"/>
              <a:t>: What we require is not available in cache and has to be fetched from main memory.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dirty="0"/>
              <a:t>Key idea:</a:t>
            </a:r>
            <a:r>
              <a:rPr lang="en-IN" dirty="0"/>
              <a:t> </a:t>
            </a:r>
            <a:r>
              <a:rPr dirty="0"/>
              <a:t>Cache reduces average memory access time.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Basics: Addresses, Words, and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4302868"/>
            <a:ext cx="20828000" cy="8734612"/>
          </a:xfrm>
        </p:spPr>
        <p:txBody>
          <a:bodyPr>
            <a:normAutofit/>
          </a:bodyPr>
          <a:lstStyle/>
          <a:p>
            <a:r>
              <a:rPr lang="en-US" dirty="0"/>
              <a:t>Memory Word: The fundamental unit of data transfer between the CPU and memory (e.g., 32-bit or 64-bit).</a:t>
            </a:r>
            <a:br>
              <a:rPr lang="en-US" dirty="0"/>
            </a:br>
            <a:endParaRPr lang="en-US" dirty="0"/>
          </a:p>
          <a:p>
            <a:r>
              <a:rPr lang="en-US" dirty="0"/>
              <a:t>Memory Block (Cache Block): A contiguous group of words transferred between main memory and cache together (typical size: 64 bytes).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……………………. </a:t>
            </a:r>
          </a:p>
          <a:p>
            <a:r>
              <a:rPr dirty="0"/>
              <a:t>Memory Address:</a:t>
            </a:r>
            <a:r>
              <a:rPr lang="en-IN" dirty="0"/>
              <a:t> </a:t>
            </a:r>
            <a:r>
              <a:rPr dirty="0"/>
              <a:t>A unique binary identifier assigned to each word in main memory, allowing the CPU to locate data.</a:t>
            </a:r>
          </a:p>
          <a:p>
            <a:endParaRPr lang="en-IN" dirty="0"/>
          </a:p>
          <a:p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0AFC18-6F44-44E2-85C6-236F3DB3574A}"/>
              </a:ext>
            </a:extLst>
          </p:cNvPr>
          <p:cNvSpPr/>
          <p:nvPr/>
        </p:nvSpPr>
        <p:spPr>
          <a:xfrm>
            <a:off x="2327564" y="5509776"/>
            <a:ext cx="4705004" cy="665018"/>
          </a:xfrm>
          <a:prstGeom prst="rect">
            <a:avLst/>
          </a:prstGeom>
          <a:blipFill rotWithShape="1">
            <a:blip r:embed="rId2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63500" dir="162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63500" dist="25400" dir="2700000" rotWithShape="0">
                  <a:srgbClr val="000000">
                    <a:alpha val="7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Chalkdus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FF117E-789A-46F0-9EF7-9AB0C594EE8A}"/>
              </a:ext>
            </a:extLst>
          </p:cNvPr>
          <p:cNvSpPr/>
          <p:nvPr/>
        </p:nvSpPr>
        <p:spPr>
          <a:xfrm>
            <a:off x="2460567" y="8368094"/>
            <a:ext cx="4705004" cy="665018"/>
          </a:xfrm>
          <a:prstGeom prst="rect">
            <a:avLst/>
          </a:prstGeom>
          <a:blipFill rotWithShape="1">
            <a:blip r:embed="rId2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63500" dir="162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63500" dist="25400" dir="2700000" rotWithShape="0">
                  <a:srgbClr val="000000">
                    <a:alpha val="7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Chalkduster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3C63F1-F2FA-4B96-AD74-BA6EA87E2FE3}"/>
              </a:ext>
            </a:extLst>
          </p:cNvPr>
          <p:cNvSpPr/>
          <p:nvPr/>
        </p:nvSpPr>
        <p:spPr>
          <a:xfrm>
            <a:off x="7486996" y="8368094"/>
            <a:ext cx="4705004" cy="665018"/>
          </a:xfrm>
          <a:prstGeom prst="rect">
            <a:avLst/>
          </a:prstGeom>
          <a:blipFill rotWithShape="1">
            <a:blip r:embed="rId2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63500" dir="162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63500" dist="25400" dir="2700000" rotWithShape="0">
                  <a:srgbClr val="000000">
                    <a:alpha val="7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Chalkduste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789FDE-9C1A-4C9A-BFB0-63A998021198}"/>
              </a:ext>
            </a:extLst>
          </p:cNvPr>
          <p:cNvSpPr/>
          <p:nvPr/>
        </p:nvSpPr>
        <p:spPr>
          <a:xfrm>
            <a:off x="15381315" y="8368094"/>
            <a:ext cx="4705004" cy="665018"/>
          </a:xfrm>
          <a:prstGeom prst="rect">
            <a:avLst/>
          </a:prstGeom>
          <a:blipFill rotWithShape="1">
            <a:blip r:embed="rId2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63500" dir="162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63500" dist="25400" dir="2700000" rotWithShape="0">
                  <a:srgbClr val="000000">
                    <a:alpha val="7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Chalkduster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C0CA6A-ECAB-4A3C-A7B7-A6DB4EEA699F}"/>
              </a:ext>
            </a:extLst>
          </p:cNvPr>
          <p:cNvSpPr/>
          <p:nvPr/>
        </p:nvSpPr>
        <p:spPr>
          <a:xfrm>
            <a:off x="2327564" y="8046720"/>
            <a:ext cx="18021992" cy="1246909"/>
          </a:xfrm>
          <a:prstGeom prst="round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>
            <a:outerShdw blurRad="63500" dir="162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63500" dist="25400" dir="2700000" rotWithShape="0">
                  <a:srgbClr val="000000">
                    <a:alpha val="7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Chalkduster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D7D031-0C9C-42F8-BCB3-58E60D93F59B}"/>
              </a:ext>
            </a:extLst>
          </p:cNvPr>
          <p:cNvSpPr/>
          <p:nvPr/>
        </p:nvSpPr>
        <p:spPr>
          <a:xfrm>
            <a:off x="2460567" y="11483000"/>
            <a:ext cx="18021992" cy="1246909"/>
          </a:xfrm>
          <a:prstGeom prst="round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>
            <a:outerShdw blurRad="63500" dir="162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63500" dist="25400" dir="2700000" rotWithShape="0">
                  <a:srgbClr val="000000">
                    <a:alpha val="7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Chalkduster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3BF12F-7ABF-413A-B80C-41C45EE7E14A}"/>
              </a:ext>
            </a:extLst>
          </p:cNvPr>
          <p:cNvSpPr/>
          <p:nvPr/>
        </p:nvSpPr>
        <p:spPr>
          <a:xfrm>
            <a:off x="2460567" y="11847198"/>
            <a:ext cx="4705004" cy="665018"/>
          </a:xfrm>
          <a:prstGeom prst="rect">
            <a:avLst/>
          </a:prstGeom>
          <a:blipFill rotWithShape="1">
            <a:blip r:embed="rId2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63500" dir="162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63500" dist="25400" dir="2700000" rotWithShape="0">
                  <a:srgbClr val="000000">
                    <a:alpha val="7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Chalkduster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70F6B3-0A63-4512-8A44-BEEFCD5EFB95}"/>
              </a:ext>
            </a:extLst>
          </p:cNvPr>
          <p:cNvSpPr/>
          <p:nvPr/>
        </p:nvSpPr>
        <p:spPr>
          <a:xfrm>
            <a:off x="7486996" y="11847198"/>
            <a:ext cx="4705004" cy="665018"/>
          </a:xfrm>
          <a:prstGeom prst="rect">
            <a:avLst/>
          </a:prstGeom>
          <a:blipFill rotWithShape="1">
            <a:blip r:embed="rId2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63500" dir="162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63500" dist="25400" dir="2700000" rotWithShape="0">
                  <a:srgbClr val="000000">
                    <a:alpha val="7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Chalkdust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5E9514-F0BA-409B-B3B3-22AAF95C8BD8}"/>
              </a:ext>
            </a:extLst>
          </p:cNvPr>
          <p:cNvSpPr/>
          <p:nvPr/>
        </p:nvSpPr>
        <p:spPr>
          <a:xfrm>
            <a:off x="15381315" y="11847198"/>
            <a:ext cx="4705004" cy="665018"/>
          </a:xfrm>
          <a:prstGeom prst="rect">
            <a:avLst/>
          </a:prstGeom>
          <a:blipFill rotWithShape="1">
            <a:blip r:embed="rId2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63500" dir="162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63500" dist="25400" dir="2700000" rotWithShape="0">
                  <a:srgbClr val="000000">
                    <a:alpha val="7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Chalkdus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F1793E-7629-4896-A2A2-EB53A0962752}"/>
              </a:ext>
            </a:extLst>
          </p:cNvPr>
          <p:cNvSpPr txBox="1"/>
          <p:nvPr/>
        </p:nvSpPr>
        <p:spPr>
          <a:xfrm>
            <a:off x="3901441" y="12059212"/>
            <a:ext cx="698909" cy="13413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647700" rtl="0" fontAlgn="auto" latinLnBrk="0" hangingPunct="0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Chalkduster"/>
              </a:rPr>
              <a:t>30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6BD649-1042-4B28-AFF3-8FDF5484A623}"/>
              </a:ext>
            </a:extLst>
          </p:cNvPr>
          <p:cNvSpPr txBox="1"/>
          <p:nvPr/>
        </p:nvSpPr>
        <p:spPr>
          <a:xfrm>
            <a:off x="9307491" y="12061986"/>
            <a:ext cx="620363" cy="13413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647700" rtl="0" fontAlgn="auto" latinLnBrk="0" hangingPunct="0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Chalkduster"/>
              </a:rPr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8870A7-4B64-4F73-BB17-B088AF5FF0FF}"/>
              </a:ext>
            </a:extLst>
          </p:cNvPr>
          <p:cNvSpPr txBox="1"/>
          <p:nvPr/>
        </p:nvSpPr>
        <p:spPr>
          <a:xfrm>
            <a:off x="17620241" y="12045359"/>
            <a:ext cx="1320874" cy="13413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647700" rtl="0" fontAlgn="auto" latinLnBrk="0" hangingPunct="0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Chalkduster"/>
              </a:rPr>
              <a:t>30+N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Cache Lines (Cache Blocks)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4625788"/>
            <a:ext cx="20828000" cy="8475070"/>
          </a:xfrm>
        </p:spPr>
        <p:txBody>
          <a:bodyPr>
            <a:normAutofit lnSpcReduction="10000"/>
          </a:bodyPr>
          <a:lstStyle/>
          <a:p>
            <a:r>
              <a:rPr dirty="0"/>
              <a:t>Cache Memory:</a:t>
            </a:r>
            <a:r>
              <a:rPr lang="en-IN" dirty="0"/>
              <a:t> </a:t>
            </a:r>
            <a:r>
              <a:rPr dirty="0"/>
              <a:t>A small, fast SRAM located between the CPU and main memory.</a:t>
            </a:r>
          </a:p>
          <a:p>
            <a:r>
              <a:rPr dirty="0"/>
              <a:t>Cache Line:</a:t>
            </a:r>
            <a:r>
              <a:rPr lang="en-IN" dirty="0"/>
              <a:t> </a:t>
            </a:r>
            <a:r>
              <a:rPr dirty="0"/>
              <a:t>The physical storage unit in the cache that holds one block from main memory.</a:t>
            </a:r>
          </a:p>
          <a:p>
            <a:r>
              <a:rPr dirty="0"/>
              <a:t>Each cache line contains:</a:t>
            </a:r>
            <a:r>
              <a:rPr lang="en-IN" dirty="0"/>
              <a:t> </a:t>
            </a:r>
          </a:p>
          <a:p>
            <a:pPr lvl="1"/>
            <a:r>
              <a:rPr dirty="0"/>
              <a:t>Data Block: the actual data (e.g., 64 bytes)</a:t>
            </a:r>
          </a:p>
          <a:p>
            <a:pPr lvl="1"/>
            <a:r>
              <a:rPr dirty="0"/>
              <a:t>Tag: identifies which memory block is stored</a:t>
            </a:r>
          </a:p>
          <a:p>
            <a:pPr lvl="1"/>
            <a:r>
              <a:rPr dirty="0"/>
              <a:t>Valid Bit: indicates whether the cache line contains valid data</a:t>
            </a:r>
          </a:p>
          <a:p>
            <a:r>
              <a:rPr dirty="0"/>
              <a:t>Key idea:</a:t>
            </a:r>
            <a:r>
              <a:rPr lang="en-IN" dirty="0"/>
              <a:t> </a:t>
            </a:r>
            <a:r>
              <a:rPr dirty="0"/>
              <a:t>Cache lines hold both data and information about that data.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Cache Mapping: The Where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Cache Mapping:</a:t>
            </a:r>
            <a:r>
              <a:rPr lang="en-IN" dirty="0"/>
              <a:t> </a:t>
            </a:r>
            <a:r>
              <a:rPr dirty="0"/>
              <a:t>The rule that determines where a memory block can be placed in the cache.</a:t>
            </a:r>
          </a:p>
          <a:p>
            <a:r>
              <a:rPr dirty="0"/>
              <a:t>Direct Mapping:</a:t>
            </a:r>
            <a:r>
              <a:rPr lang="en-IN" dirty="0"/>
              <a:t> </a:t>
            </a:r>
            <a:r>
              <a:rPr dirty="0"/>
              <a:t>Each memory block maps to exactly one cache line (Line = Block % Number of Lines).</a:t>
            </a:r>
            <a:r>
              <a:rPr lang="en-IN" dirty="0"/>
              <a:t> </a:t>
            </a:r>
            <a:r>
              <a:rPr dirty="0"/>
              <a:t>Simple and fast, but causes conflict misses.</a:t>
            </a:r>
          </a:p>
          <a:p>
            <a:r>
              <a:rPr dirty="0"/>
              <a:t>Fully Associative Mapping:</a:t>
            </a:r>
            <a:r>
              <a:rPr lang="en-IN" dirty="0"/>
              <a:t> </a:t>
            </a:r>
            <a:r>
              <a:rPr dirty="0"/>
              <a:t>A memory block can be placed in any cache line.</a:t>
            </a:r>
            <a:r>
              <a:rPr lang="en-IN" dirty="0"/>
              <a:t> </a:t>
            </a:r>
            <a:r>
              <a:rPr dirty="0"/>
              <a:t>Flexible but expensive lookup.</a:t>
            </a:r>
          </a:p>
          <a:p>
            <a:r>
              <a:rPr dirty="0"/>
              <a:t>Set-Associative Mapping:</a:t>
            </a:r>
            <a:r>
              <a:rPr lang="en-IN" dirty="0"/>
              <a:t> </a:t>
            </a:r>
            <a:r>
              <a:rPr dirty="0"/>
              <a:t>Cache divided into sets; a block maps to one set but can occupy any line within the set.</a:t>
            </a:r>
            <a:r>
              <a:rPr lang="en-IN" dirty="0"/>
              <a:t> </a:t>
            </a:r>
            <a:r>
              <a:rPr dirty="0"/>
              <a:t>A compromise between cost and performance.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Memory Address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4625788"/>
            <a:ext cx="20828000" cy="8907332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A memory address is divided into fields for cache lookup:</a:t>
            </a:r>
            <a:r>
              <a:rPr lang="en-IN" dirty="0"/>
              <a:t> </a:t>
            </a:r>
          </a:p>
          <a:p>
            <a:pPr lvl="1"/>
            <a:r>
              <a:rPr dirty="0"/>
              <a:t>Tag:</a:t>
            </a:r>
            <a:r>
              <a:rPr lang="en-IN" dirty="0"/>
              <a:t> </a:t>
            </a:r>
            <a:r>
              <a:rPr dirty="0"/>
              <a:t>Identifies which memory block is stored.</a:t>
            </a:r>
          </a:p>
          <a:p>
            <a:pPr lvl="1"/>
            <a:r>
              <a:rPr dirty="0"/>
              <a:t>Index (or Set Index):</a:t>
            </a:r>
            <a:r>
              <a:rPr lang="en-IN" dirty="0"/>
              <a:t> </a:t>
            </a:r>
            <a:r>
              <a:rPr dirty="0"/>
              <a:t>Selects the cache line or set to check.</a:t>
            </a:r>
          </a:p>
          <a:p>
            <a:r>
              <a:rPr dirty="0"/>
              <a:t>Block Offset:</a:t>
            </a:r>
            <a:r>
              <a:rPr lang="en-IN" dirty="0"/>
              <a:t> </a:t>
            </a:r>
            <a:r>
              <a:rPr dirty="0"/>
              <a:t>Selects the specific word or byte within the block.</a:t>
            </a:r>
          </a:p>
          <a:p>
            <a:r>
              <a:rPr dirty="0"/>
              <a:t>Cache Access Workflow: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1. Use Index to select cache line/set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2. Compare Tag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3. If Valid Bit = 1 and tags match → Cache Hit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4. Otherwise → Cache Miss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Cache Replacement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4625788"/>
            <a:ext cx="20828000" cy="8325441"/>
          </a:xfrm>
        </p:spPr>
        <p:txBody>
          <a:bodyPr>
            <a:normAutofit/>
          </a:bodyPr>
          <a:lstStyle/>
          <a:p>
            <a:r>
              <a:rPr dirty="0"/>
              <a:t>When cache is full, a block must be replaced.</a:t>
            </a:r>
          </a:p>
          <a:p>
            <a:r>
              <a:rPr dirty="0"/>
              <a:t>Common policies:</a:t>
            </a:r>
          </a:p>
          <a:p>
            <a:pPr lvl="1"/>
            <a:r>
              <a:rPr dirty="0"/>
              <a:t>Least Recently Used (LRU)</a:t>
            </a:r>
          </a:p>
          <a:p>
            <a:pPr lvl="1"/>
            <a:r>
              <a:rPr dirty="0"/>
              <a:t>First In First Out (FIFO)</a:t>
            </a:r>
          </a:p>
          <a:p>
            <a:pPr lvl="1"/>
            <a:r>
              <a:rPr dirty="0"/>
              <a:t>Random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Key idea:</a:t>
            </a:r>
            <a:r>
              <a:rPr lang="en-IN" dirty="0"/>
              <a:t> </a:t>
            </a:r>
            <a:r>
              <a:rPr dirty="0"/>
              <a:t>Replacement decides what data stays close to the processor.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Cache Write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When data is written:</a:t>
            </a:r>
          </a:p>
          <a:p>
            <a:pPr lvl="1"/>
            <a:r>
              <a:rPr dirty="0"/>
              <a:t>Write-through: update cache and memory</a:t>
            </a:r>
          </a:p>
          <a:p>
            <a:pPr lvl="1"/>
            <a:r>
              <a:rPr dirty="0"/>
              <a:t>Write-back: update cache, write later</a:t>
            </a:r>
          </a:p>
          <a:p>
            <a:r>
              <a:rPr dirty="0"/>
              <a:t>Tradeoff:</a:t>
            </a:r>
            <a:r>
              <a:rPr lang="en-IN" dirty="0"/>
              <a:t> </a:t>
            </a:r>
            <a:r>
              <a:rPr dirty="0"/>
              <a:t>Simplicity vs performance</a:t>
            </a:r>
          </a:p>
          <a:p>
            <a:r>
              <a:rPr dirty="0"/>
              <a:t>Key idea:</a:t>
            </a:r>
            <a:r>
              <a:rPr lang="en-IN" dirty="0"/>
              <a:t> </a:t>
            </a:r>
            <a:r>
              <a:rPr dirty="0"/>
              <a:t>Writes introduce additional design choices.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169A4-6813-4E19-8E64-A6E0CBD16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614" y="4994102"/>
            <a:ext cx="20828000" cy="3492500"/>
          </a:xfrm>
        </p:spPr>
        <p:txBody>
          <a:bodyPr/>
          <a:lstStyle/>
          <a:p>
            <a:r>
              <a:rPr lang="en-IN" dirty="0"/>
              <a:t>The 8 great ideas</a:t>
            </a:r>
          </a:p>
        </p:txBody>
      </p:sp>
    </p:spTree>
    <p:extLst>
      <p:ext uri="{BB962C8B-B14F-4D97-AF65-F5344CB8AC3E}">
        <p14:creationId xmlns:p14="http://schemas.microsoft.com/office/powerpoint/2010/main" val="11130328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for Moore’s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3524596"/>
            <a:ext cx="20828000" cy="8692804"/>
          </a:xfrm>
        </p:spPr>
        <p:txBody>
          <a:bodyPr>
            <a:normAutofit/>
          </a:bodyPr>
          <a:lstStyle/>
          <a:p>
            <a:r>
              <a:rPr dirty="0"/>
              <a:t>Hardware resources grow rapidly, so systems must be designed for future technology.</a:t>
            </a:r>
          </a:p>
          <a:p>
            <a:pPr lvl="1"/>
            <a:r>
              <a:rPr dirty="0"/>
              <a:t>Transistor count roughly doubles every 18–24 months</a:t>
            </a:r>
          </a:p>
          <a:p>
            <a:pPr lvl="1"/>
            <a:r>
              <a:rPr dirty="0"/>
              <a:t> Designs take years, but technology changes during design</a:t>
            </a:r>
          </a:p>
          <a:p>
            <a:r>
              <a:rPr dirty="0"/>
              <a:t>Example:</a:t>
            </a:r>
            <a:r>
              <a:rPr lang="en-IN" dirty="0"/>
              <a:t> </a:t>
            </a:r>
            <a:r>
              <a:rPr dirty="0"/>
              <a:t>Processors are designed assuming more transistors will be available, enabling more cores and larger caches.</a:t>
            </a:r>
          </a:p>
          <a:p>
            <a:r>
              <a:rPr dirty="0"/>
              <a:t>Key takeaway:</a:t>
            </a:r>
            <a:r>
              <a:rPr lang="en-IN" dirty="0"/>
              <a:t> </a:t>
            </a:r>
            <a:r>
              <a:rPr dirty="0"/>
              <a:t>Designers must anticipate change, not react to it.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4987636"/>
            <a:ext cx="20828000" cy="7229764"/>
          </a:xfrm>
        </p:spPr>
        <p:txBody>
          <a:bodyPr>
            <a:normAutofit/>
          </a:bodyPr>
          <a:lstStyle/>
          <a:p>
            <a:r>
              <a:rPr dirty="0"/>
              <a:t>Abstraction hides lower-level details to manage complexity.</a:t>
            </a:r>
          </a:p>
          <a:p>
            <a:pPr lvl="1"/>
            <a:r>
              <a:rPr dirty="0"/>
              <a:t> Enables productivity and modularity</a:t>
            </a:r>
          </a:p>
          <a:p>
            <a:pPr lvl="1"/>
            <a:r>
              <a:rPr dirty="0"/>
              <a:t>Each level exposes a simpler interface</a:t>
            </a:r>
          </a:p>
          <a:p>
            <a:r>
              <a:rPr dirty="0"/>
              <a:t>Example:</a:t>
            </a:r>
            <a:r>
              <a:rPr lang="en-IN" dirty="0"/>
              <a:t> </a:t>
            </a:r>
            <a:r>
              <a:rPr dirty="0"/>
              <a:t>Programmers write high-level code without worrying about registers or pipelines.</a:t>
            </a:r>
          </a:p>
          <a:p>
            <a:r>
              <a:rPr dirty="0"/>
              <a:t>Key takeaway:</a:t>
            </a:r>
            <a:r>
              <a:rPr lang="en-IN" dirty="0"/>
              <a:t> </a:t>
            </a:r>
            <a:r>
              <a:rPr dirty="0"/>
              <a:t>Abstraction lets us build complex systems from manageable pieces.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Make the Common Case Fast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4488872"/>
            <a:ext cx="20828000" cy="7728527"/>
          </a:xfrm>
        </p:spPr>
        <p:txBody>
          <a:bodyPr>
            <a:normAutofit/>
          </a:bodyPr>
          <a:lstStyle/>
          <a:p>
            <a:r>
              <a:rPr dirty="0"/>
              <a:t>Optimizing frequent operations improves performance more than optimizing rare cases.</a:t>
            </a:r>
          </a:p>
          <a:p>
            <a:pPr lvl="1"/>
            <a:r>
              <a:rPr dirty="0"/>
              <a:t>Requires workload measurement</a:t>
            </a:r>
          </a:p>
          <a:p>
            <a:pPr lvl="1"/>
            <a:r>
              <a:rPr dirty="0"/>
              <a:t>Common cases are often simpler</a:t>
            </a:r>
          </a:p>
          <a:p>
            <a:r>
              <a:rPr dirty="0"/>
              <a:t>Example:</a:t>
            </a:r>
            <a:r>
              <a:rPr lang="en-IN" dirty="0"/>
              <a:t> </a:t>
            </a:r>
            <a:r>
              <a:rPr dirty="0"/>
              <a:t>Cache memory speeds up frequent memory accesses.</a:t>
            </a:r>
            <a:r>
              <a:rPr lang="en-IN" dirty="0"/>
              <a:t> Training for particular scenarios which are common.</a:t>
            </a:r>
            <a:endParaRPr dirty="0"/>
          </a:p>
          <a:p>
            <a:r>
              <a:rPr dirty="0"/>
              <a:t>Key takeaway:</a:t>
            </a:r>
            <a:r>
              <a:rPr lang="en-IN" dirty="0"/>
              <a:t> </a:t>
            </a:r>
            <a:r>
              <a:rPr dirty="0"/>
              <a:t>Fast systems focus on what happens most of the time.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via Parallelism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4522124"/>
            <a:ext cx="20828000" cy="7695276"/>
          </a:xfrm>
        </p:spPr>
        <p:txBody>
          <a:bodyPr>
            <a:normAutofit/>
          </a:bodyPr>
          <a:lstStyle/>
          <a:p>
            <a:r>
              <a:rPr dirty="0"/>
              <a:t>Improve performance by performing multiple operations simultaneously.</a:t>
            </a:r>
          </a:p>
          <a:p>
            <a:pPr lvl="1"/>
            <a:r>
              <a:rPr dirty="0"/>
              <a:t>Appears at many system levels</a:t>
            </a:r>
          </a:p>
          <a:p>
            <a:pPr lvl="1"/>
            <a:r>
              <a:rPr dirty="0"/>
              <a:t>Exploits independent work</a:t>
            </a:r>
          </a:p>
          <a:p>
            <a:r>
              <a:rPr dirty="0"/>
              <a:t>Example:</a:t>
            </a:r>
            <a:r>
              <a:rPr lang="en-IN" dirty="0"/>
              <a:t> </a:t>
            </a:r>
            <a:r>
              <a:rPr dirty="0"/>
              <a:t>Multi-core processors execute multiple threads in parallel.</a:t>
            </a:r>
          </a:p>
          <a:p>
            <a:r>
              <a:rPr dirty="0"/>
              <a:t>Key takeaway:</a:t>
            </a:r>
            <a:r>
              <a:rPr lang="en-IN" dirty="0"/>
              <a:t> </a:t>
            </a:r>
            <a:r>
              <a:rPr dirty="0"/>
              <a:t>Parallelism increases throughput by doing more at once.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via Pipelining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4355868"/>
            <a:ext cx="20828000" cy="7861531"/>
          </a:xfrm>
        </p:spPr>
        <p:txBody>
          <a:bodyPr>
            <a:normAutofit/>
          </a:bodyPr>
          <a:lstStyle/>
          <a:p>
            <a:r>
              <a:rPr dirty="0"/>
              <a:t>A special form of parallelism that overlaps stages of execution.</a:t>
            </a:r>
          </a:p>
          <a:p>
            <a:pPr lvl="1"/>
            <a:r>
              <a:rPr dirty="0"/>
              <a:t> Improves hardware utilization</a:t>
            </a:r>
          </a:p>
          <a:p>
            <a:pPr lvl="1"/>
            <a:r>
              <a:rPr dirty="0"/>
              <a:t>Increases throughput</a:t>
            </a:r>
          </a:p>
          <a:p>
            <a:r>
              <a:rPr dirty="0"/>
              <a:t>Example:</a:t>
            </a:r>
            <a:r>
              <a:rPr lang="en-IN" dirty="0"/>
              <a:t> </a:t>
            </a:r>
            <a:r>
              <a:rPr dirty="0"/>
              <a:t>Instruction pipelines overlap fetch, decode, execute, memory access, and write-back.</a:t>
            </a:r>
          </a:p>
          <a:p>
            <a:r>
              <a:rPr dirty="0"/>
              <a:t>Key takeaway:</a:t>
            </a:r>
            <a:r>
              <a:rPr lang="en-IN" dirty="0"/>
              <a:t> </a:t>
            </a:r>
            <a:r>
              <a:rPr dirty="0"/>
              <a:t>Pipelining overlaps work rather than speeding up individual steps.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via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4322618"/>
            <a:ext cx="20828000" cy="7894782"/>
          </a:xfrm>
        </p:spPr>
        <p:txBody>
          <a:bodyPr>
            <a:normAutofit/>
          </a:bodyPr>
          <a:lstStyle/>
          <a:p>
            <a:r>
              <a:rPr dirty="0"/>
              <a:t>Guess future behavior to improve average performance.</a:t>
            </a:r>
          </a:p>
          <a:p>
            <a:pPr lvl="1"/>
            <a:r>
              <a:rPr dirty="0"/>
              <a:t> Correct predictions speed up execution</a:t>
            </a:r>
          </a:p>
          <a:p>
            <a:pPr lvl="1"/>
            <a:r>
              <a:rPr dirty="0"/>
              <a:t>Recovery handles wrong guesses</a:t>
            </a:r>
          </a:p>
          <a:p>
            <a:r>
              <a:rPr dirty="0"/>
              <a:t>Example:</a:t>
            </a:r>
            <a:r>
              <a:rPr lang="en-IN" dirty="0"/>
              <a:t> A missile that predicts the trajectory of the moving target and hitting there.</a:t>
            </a:r>
            <a:endParaRPr dirty="0"/>
          </a:p>
          <a:p>
            <a:r>
              <a:rPr dirty="0"/>
              <a:t>Key takeaway:</a:t>
            </a:r>
            <a:r>
              <a:rPr lang="en-IN" dirty="0"/>
              <a:t> </a:t>
            </a:r>
            <a:r>
              <a:rPr dirty="0"/>
              <a:t>Prediction improves performance when guesses are usually correct.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Hierarchy of Memories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4422370"/>
            <a:ext cx="20828000" cy="7795029"/>
          </a:xfrm>
        </p:spPr>
        <p:txBody>
          <a:bodyPr>
            <a:normAutofit/>
          </a:bodyPr>
          <a:lstStyle/>
          <a:p>
            <a:r>
              <a:rPr dirty="0"/>
              <a:t>Organize memory into levels with different speed, size, and cost.</a:t>
            </a:r>
          </a:p>
          <a:p>
            <a:pPr lvl="1"/>
            <a:r>
              <a:rPr dirty="0"/>
              <a:t>Fast memory is small and expensive</a:t>
            </a:r>
          </a:p>
          <a:p>
            <a:pPr lvl="1"/>
            <a:r>
              <a:rPr dirty="0"/>
              <a:t>Slow memory is large and cheap</a:t>
            </a:r>
          </a:p>
          <a:p>
            <a:r>
              <a:rPr dirty="0"/>
              <a:t>Example:</a:t>
            </a:r>
            <a:r>
              <a:rPr lang="en-IN" dirty="0"/>
              <a:t> </a:t>
            </a:r>
            <a:r>
              <a:rPr dirty="0"/>
              <a:t>Registers → Cache → Main Memory → Disk</a:t>
            </a:r>
          </a:p>
          <a:p>
            <a:r>
              <a:rPr dirty="0"/>
              <a:t>Key takeaway:</a:t>
            </a:r>
            <a:r>
              <a:rPr lang="en-IN" dirty="0"/>
              <a:t> </a:t>
            </a:r>
            <a:r>
              <a:rPr dirty="0"/>
              <a:t>Hierarchy gives the illusion of fast, large, and cheap memory.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Dependability via Redundancy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6035040"/>
            <a:ext cx="20828000" cy="6182360"/>
          </a:xfrm>
        </p:spPr>
        <p:txBody>
          <a:bodyPr>
            <a:normAutofit/>
          </a:bodyPr>
          <a:lstStyle/>
          <a:p>
            <a:r>
              <a:rPr dirty="0"/>
              <a:t>Systems are made reliable by adding redundant components.</a:t>
            </a:r>
          </a:p>
          <a:p>
            <a:pPr lvl="1"/>
            <a:r>
              <a:rPr dirty="0"/>
              <a:t>Failures are inevitable</a:t>
            </a:r>
          </a:p>
          <a:p>
            <a:pPr lvl="1"/>
            <a:r>
              <a:rPr dirty="0"/>
              <a:t>Redundancy enables fault tolerance</a:t>
            </a:r>
          </a:p>
          <a:p>
            <a:r>
              <a:rPr dirty="0"/>
              <a:t>Example:</a:t>
            </a:r>
            <a:r>
              <a:rPr lang="en-IN" dirty="0"/>
              <a:t> </a:t>
            </a:r>
            <a:r>
              <a:rPr dirty="0"/>
              <a:t>RAID systems store redundant data to survive disk failures.</a:t>
            </a:r>
          </a:p>
          <a:p>
            <a:r>
              <a:rPr dirty="0"/>
              <a:t>Key takeaway:</a:t>
            </a:r>
            <a:r>
              <a:rPr lang="en-IN" dirty="0"/>
              <a:t> </a:t>
            </a:r>
            <a:r>
              <a:rPr dirty="0"/>
              <a:t>Reliable systems assume components will fail.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Jai Hind PNG Transparent Images Free Download | Vector Files ...">
            <a:extLst>
              <a:ext uri="{FF2B5EF4-FFF2-40B4-BE49-F238E27FC236}">
                <a16:creationId xmlns:a16="http://schemas.microsoft.com/office/drawing/2014/main" id="{3AE502C8-FF2B-4CC0-872A-DAD07EE2B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832" y="2904943"/>
            <a:ext cx="7906113" cy="7906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66718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">
  <a:themeElements>
    <a:clrScheme name="Chalkboard">
      <a:dk1>
        <a:srgbClr val="BC00FF"/>
      </a:dk1>
      <a:lt1>
        <a:srgbClr val="FFFFFF"/>
      </a:lt1>
      <a:dk2>
        <a:srgbClr val="51504D"/>
      </a:dk2>
      <a:lt2>
        <a:srgbClr val="CBC8C2"/>
      </a:lt2>
      <a:accent1>
        <a:srgbClr val="71B0E2"/>
      </a:accent1>
      <a:accent2>
        <a:srgbClr val="A8E685"/>
      </a:accent2>
      <a:accent3>
        <a:srgbClr val="FFE181"/>
      </a:accent3>
      <a:accent4>
        <a:srgbClr val="F2A057"/>
      </a:accent4>
      <a:accent5>
        <a:srgbClr val="FF7777"/>
      </a:accent5>
      <a:accent6>
        <a:srgbClr val="D4ABEF"/>
      </a:accent6>
      <a:hlink>
        <a:srgbClr val="0000FF"/>
      </a:hlink>
      <a:folHlink>
        <a:srgbClr val="FF00FF"/>
      </a:folHlink>
    </a:clrScheme>
    <a:fontScheme name="Chalkboard">
      <a:majorFont>
        <a:latin typeface="Chalkduster"/>
        <a:ea typeface="Chalkduster"/>
        <a:cs typeface="Chalkduster"/>
      </a:majorFont>
      <a:minorFont>
        <a:latin typeface="Chalkduster"/>
        <a:ea typeface="Chalkduster"/>
        <a:cs typeface="Chalkduster"/>
      </a:minorFont>
    </a:fontScheme>
    <a:fmtScheme name="Chalkbo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r="162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r="162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r="162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63500" dir="162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6477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63500" dist="25400" dir="2700000" rotWithShape="0">
                <a:srgbClr val="000000">
                  <a:alpha val="70000"/>
                </a:srgbClr>
              </a:outerShdw>
            </a:effectLst>
            <a:uFillTx/>
            <a:latin typeface="+mn-lt"/>
            <a:ea typeface="+mn-ea"/>
            <a:cs typeface="+mn-cs"/>
            <a:sym typeface="Chalkdus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>
          <a:noFill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647700" rtl="0" fontAlgn="auto" latinLnBrk="0" hangingPunct="0">
          <a:lnSpc>
            <a:spcPct val="100000"/>
          </a:lnSpc>
          <a:spcBef>
            <a:spcPts val="5100"/>
          </a:spcBef>
          <a:spcAft>
            <a:spcPts val="0"/>
          </a:spcAft>
          <a:buClrTx/>
          <a:buSzTx/>
          <a:buFontTx/>
          <a:buNone/>
          <a:tabLst/>
          <a:defRPr kumimoji="0" sz="3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Chalkdus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halkboard">
  <a:themeElements>
    <a:clrScheme name="Chalkboard">
      <a:dk1>
        <a:srgbClr val="000000"/>
      </a:dk1>
      <a:lt1>
        <a:srgbClr val="FFFFFF"/>
      </a:lt1>
      <a:dk2>
        <a:srgbClr val="51504D"/>
      </a:dk2>
      <a:lt2>
        <a:srgbClr val="CBC8C2"/>
      </a:lt2>
      <a:accent1>
        <a:srgbClr val="71B0E2"/>
      </a:accent1>
      <a:accent2>
        <a:srgbClr val="A8E685"/>
      </a:accent2>
      <a:accent3>
        <a:srgbClr val="FFE181"/>
      </a:accent3>
      <a:accent4>
        <a:srgbClr val="F2A057"/>
      </a:accent4>
      <a:accent5>
        <a:srgbClr val="FF7777"/>
      </a:accent5>
      <a:accent6>
        <a:srgbClr val="D4ABEF"/>
      </a:accent6>
      <a:hlink>
        <a:srgbClr val="0000FF"/>
      </a:hlink>
      <a:folHlink>
        <a:srgbClr val="FF00FF"/>
      </a:folHlink>
    </a:clrScheme>
    <a:fontScheme name="Chalkboard">
      <a:majorFont>
        <a:latin typeface="Chalkduster"/>
        <a:ea typeface="Chalkduster"/>
        <a:cs typeface="Chalkduster"/>
      </a:majorFont>
      <a:minorFont>
        <a:latin typeface="Chalkduster"/>
        <a:ea typeface="Chalkduster"/>
        <a:cs typeface="Chalkduster"/>
      </a:minorFont>
    </a:fontScheme>
    <a:fmtScheme name="Chalkbo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r="162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r="162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r="162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63500" dir="162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6477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63500" dist="25400" dir="2700000" rotWithShape="0">
                <a:srgbClr val="000000">
                  <a:alpha val="70000"/>
                </a:srgbClr>
              </a:outerShdw>
            </a:effectLst>
            <a:uFillTx/>
            <a:latin typeface="+mn-lt"/>
            <a:ea typeface="+mn-ea"/>
            <a:cs typeface="+mn-cs"/>
            <a:sym typeface="Chalkdus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>
          <a:noFill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647700" rtl="0" fontAlgn="auto" latinLnBrk="0" hangingPunct="0">
          <a:lnSpc>
            <a:spcPct val="100000"/>
          </a:lnSpc>
          <a:spcBef>
            <a:spcPts val="5100"/>
          </a:spcBef>
          <a:spcAft>
            <a:spcPts val="0"/>
          </a:spcAft>
          <a:buClrTx/>
          <a:buSzTx/>
          <a:buFontTx/>
          <a:buNone/>
          <a:tabLst/>
          <a:defRPr kumimoji="0" sz="3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Chalkdus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9704</TotalTime>
  <Words>2902</Words>
  <Application>Microsoft Office PowerPoint</Application>
  <PresentationFormat>Custom</PresentationFormat>
  <Paragraphs>380</Paragraphs>
  <Slides>58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Arial</vt:lpstr>
      <vt:lpstr>Chalkduster</vt:lpstr>
      <vt:lpstr>Georgia</vt:lpstr>
      <vt:lpstr>Georgia Pro Light</vt:lpstr>
      <vt:lpstr>Helvetica Neue</vt:lpstr>
      <vt:lpstr>Times New Roman</vt:lpstr>
      <vt:lpstr>Wingdings</vt:lpstr>
      <vt:lpstr>Chalkboard</vt:lpstr>
      <vt:lpstr>PowerPoint Presentation</vt:lpstr>
      <vt:lpstr>What is a Computer?</vt:lpstr>
      <vt:lpstr>What is this Course about</vt:lpstr>
      <vt:lpstr>Levels of existence of an individual</vt:lpstr>
      <vt:lpstr>Aspects of Individuals as problem solver</vt:lpstr>
      <vt:lpstr>Aspects of Individuals as problem solver</vt:lpstr>
      <vt:lpstr>Computer Organization</vt:lpstr>
      <vt:lpstr>Operating Systems</vt:lpstr>
      <vt:lpstr>Operating Systems</vt:lpstr>
      <vt:lpstr>From Individuals to Society</vt:lpstr>
      <vt:lpstr>Data Representation</vt:lpstr>
      <vt:lpstr>Bits as an Alphabet</vt:lpstr>
      <vt:lpstr>Binary and Decimal: Intuitive Mapping</vt:lpstr>
      <vt:lpstr>Binary and Decimal: Intuitive Mapping</vt:lpstr>
      <vt:lpstr>Binary and Decimal: Intuitive Mapping</vt:lpstr>
      <vt:lpstr>Binary and Decimal: Intuitive Mapping</vt:lpstr>
      <vt:lpstr>Binary and Decimal: Intuitive Mapping</vt:lpstr>
      <vt:lpstr>Binary and Decimal: Intuitive Mapping</vt:lpstr>
      <vt:lpstr>Binary and Decimal: Intuitive Mapping</vt:lpstr>
      <vt:lpstr>Binary and Decimal for rationals</vt:lpstr>
      <vt:lpstr>PowerPoint Presentation</vt:lpstr>
      <vt:lpstr>Why Only Two Symbols?</vt:lpstr>
      <vt:lpstr>What Is a Processor?</vt:lpstr>
      <vt:lpstr>What Is a Processor?</vt:lpstr>
      <vt:lpstr>What Does a Processor Contain?</vt:lpstr>
      <vt:lpstr>Basic Terms: Clock and Instructions</vt:lpstr>
      <vt:lpstr>Instruction Set Architecture (ISA)</vt:lpstr>
      <vt:lpstr>Example: Assembly Instructions</vt:lpstr>
      <vt:lpstr>How Long Does an Instruction Take?</vt:lpstr>
      <vt:lpstr>Washing Clothes</vt:lpstr>
      <vt:lpstr>A Faster way to do things</vt:lpstr>
      <vt:lpstr>Sequential Execution (Without Pipelining)</vt:lpstr>
      <vt:lpstr>Idea of Pipelining</vt:lpstr>
      <vt:lpstr>Pipelined Execution</vt:lpstr>
      <vt:lpstr>Why Pipelining Matters</vt:lpstr>
      <vt:lpstr>PowerPoint Presentation</vt:lpstr>
      <vt:lpstr>Memory Organization</vt:lpstr>
      <vt:lpstr>Hierarchy of Memories</vt:lpstr>
      <vt:lpstr>Hierarchical Memory Organization</vt:lpstr>
      <vt:lpstr>Hierarchical Memory Organization</vt:lpstr>
      <vt:lpstr>Principle of Locality</vt:lpstr>
      <vt:lpstr>Cache Hits and Miss</vt:lpstr>
      <vt:lpstr>Memory Basics: Addresses, Words, and Blocks</vt:lpstr>
      <vt:lpstr>Cache Lines (Cache Blocks)</vt:lpstr>
      <vt:lpstr>Cache Mapping: The Where</vt:lpstr>
      <vt:lpstr>Anatomy of a Memory Address</vt:lpstr>
      <vt:lpstr>Cache Replacement Algorithms</vt:lpstr>
      <vt:lpstr>Cache Write Policies</vt:lpstr>
      <vt:lpstr>The 8 great ideas</vt:lpstr>
      <vt:lpstr>Design for Moore’s Law</vt:lpstr>
      <vt:lpstr>Abstraction</vt:lpstr>
      <vt:lpstr>Make the Common Case Fast</vt:lpstr>
      <vt:lpstr>Performance via Parallelism</vt:lpstr>
      <vt:lpstr>Performance via Pipelining</vt:lpstr>
      <vt:lpstr>Performance via Prediction</vt:lpstr>
      <vt:lpstr>Hierarchy of Memories</vt:lpstr>
      <vt:lpstr>Dependability via Redundancy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IITG</dc:creator>
  <cp:lastModifiedBy>IITG</cp:lastModifiedBy>
  <cp:revision>69</cp:revision>
  <dcterms:modified xsi:type="dcterms:W3CDTF">2026-02-06T19:14:37Z</dcterms:modified>
</cp:coreProperties>
</file>